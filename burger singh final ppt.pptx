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handoutMasterIdLst>
    <p:handoutMasterId r:id="rId15"/>
  </p:handoutMasterIdLst>
  <p:sldIdLst>
    <p:sldId id="256" r:id="rId2"/>
    <p:sldId id="269" r:id="rId3"/>
    <p:sldId id="261" r:id="rId4"/>
    <p:sldId id="271" r:id="rId5"/>
    <p:sldId id="273" r:id="rId6"/>
    <p:sldId id="262" r:id="rId7"/>
    <p:sldId id="275" r:id="rId8"/>
    <p:sldId id="276" r:id="rId9"/>
    <p:sldId id="277" r:id="rId10"/>
    <p:sldId id="279" r:id="rId11"/>
    <p:sldId id="280" r:id="rId12"/>
    <p:sldId id="281"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59" d="100"/>
          <a:sy n="59" d="100"/>
        </p:scale>
        <p:origin x="964" y="60"/>
      </p:cViewPr>
      <p:guideLst/>
    </p:cSldViewPr>
  </p:slideViewPr>
  <p:notesTextViewPr>
    <p:cViewPr>
      <p:scale>
        <a:sx n="1" d="1"/>
        <a:sy n="1" d="1"/>
      </p:scale>
      <p:origin x="0" y="0"/>
    </p:cViewPr>
  </p:notesTextViewPr>
  <p:notesViewPr>
    <p:cSldViewPr snapToGrid="0">
      <p:cViewPr varScale="1">
        <p:scale>
          <a:sx n="60" d="100"/>
          <a:sy n="60" d="100"/>
        </p:scale>
        <p:origin x="2424"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86C3D2F-5A05-4596-A225-FC14565701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39C051B-F26C-4470-B56C-092B4E1C4CF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8E9A1B5-1BE4-4CD6-80C4-143959F034D3}" type="datetimeFigureOut">
              <a:rPr lang="en-US" smtClean="0"/>
              <a:t>6/30/2023</a:t>
            </a:fld>
            <a:endParaRPr lang="en-US" dirty="0"/>
          </a:p>
        </p:txBody>
      </p:sp>
      <p:sp>
        <p:nvSpPr>
          <p:cNvPr id="4" name="Footer Placeholder 3">
            <a:extLst>
              <a:ext uri="{FF2B5EF4-FFF2-40B4-BE49-F238E27FC236}">
                <a16:creationId xmlns:a16="http://schemas.microsoft.com/office/drawing/2014/main" id="{CD59DB8B-3A1C-4291-8A97-C19C5D31C36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9E6310B9-42FE-4FE9-8C0B-5C7382DBB0E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EFCFFF0-B784-4FE7-8A38-F89DE294F830}" type="slidenum">
              <a:rPr lang="en-US" smtClean="0"/>
              <a:t>‹#›</a:t>
            </a:fld>
            <a:endParaRPr lang="en-US" dirty="0"/>
          </a:p>
        </p:txBody>
      </p:sp>
    </p:spTree>
    <p:extLst>
      <p:ext uri="{BB962C8B-B14F-4D97-AF65-F5344CB8AC3E}">
        <p14:creationId xmlns:p14="http://schemas.microsoft.com/office/powerpoint/2010/main" val="210156693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E6120A-21AF-4F12-ABAA-66A70823631B}" type="datetimeFigureOut">
              <a:rPr lang="en-US" smtClean="0"/>
              <a:t>6/30/2023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8C672F-171E-46DC-915C-C7BCF99F5C42}" type="slidenum">
              <a:rPr lang="en-US" smtClean="0"/>
              <a:t>‹#›</a:t>
            </a:fld>
            <a:endParaRPr lang="en-US" dirty="0"/>
          </a:p>
        </p:txBody>
      </p:sp>
    </p:spTree>
    <p:extLst>
      <p:ext uri="{BB962C8B-B14F-4D97-AF65-F5344CB8AC3E}">
        <p14:creationId xmlns:p14="http://schemas.microsoft.com/office/powerpoint/2010/main" val="19584980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US"/>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EF63B152-7103-4FFE-90AC-D94EB7F44A7E}" type="datetimeFigureOut">
              <a:rPr lang="en-US" smtClean="0"/>
              <a:t>6/30/2023</a:t>
            </a:fld>
            <a:endParaRPr lang="en-US" dirty="0"/>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dirty="0"/>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299DD5A9-4EF1-497E-92EF-2D23CF305E03}" type="slidenum">
              <a:rPr lang="en-US" smtClean="0"/>
              <a:t>‹#›</a:t>
            </a:fld>
            <a:endParaRPr lang="en-US" dirty="0"/>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40524612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63B152-7103-4FFE-90AC-D94EB7F44A7E}" type="datetimeFigureOut">
              <a:rPr lang="en-US" smtClean="0"/>
              <a:t>6/30/2023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99DD5A9-4EF1-497E-92EF-2D23CF305E03}" type="slidenum">
              <a:rPr lang="en-US" smtClean="0"/>
              <a:t>‹#›</a:t>
            </a:fld>
            <a:endParaRPr lang="en-US" dirty="0"/>
          </a:p>
        </p:txBody>
      </p:sp>
    </p:spTree>
    <p:extLst>
      <p:ext uri="{BB962C8B-B14F-4D97-AF65-F5344CB8AC3E}">
        <p14:creationId xmlns:p14="http://schemas.microsoft.com/office/powerpoint/2010/main" val="286961199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EF63B152-7103-4FFE-90AC-D94EB7F44A7E}" type="datetimeFigureOut">
              <a:rPr lang="en-US" smtClean="0"/>
              <a:t>6/30/2023</a:t>
            </a:fld>
            <a:endParaRPr lang="en-US" dirty="0"/>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299DD5A9-4EF1-497E-92EF-2D23CF305E03}" type="slidenum">
              <a:rPr lang="en-US" smtClean="0"/>
              <a:t>‹#›</a:t>
            </a:fld>
            <a:endParaRPr lang="en-US" dirty="0"/>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51319442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F63B152-7103-4FFE-90AC-D94EB7F44A7E}" type="datetimeFigureOut">
              <a:rPr lang="en-US" smtClean="0"/>
              <a:t>6/30/2023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99DD5A9-4EF1-497E-92EF-2D23CF305E03}" type="slidenum">
              <a:rPr lang="en-US" smtClean="0"/>
              <a:t>‹#›</a:t>
            </a:fld>
            <a:endParaRPr lang="en-US" dirty="0"/>
          </a:p>
        </p:txBody>
      </p:sp>
    </p:spTree>
    <p:extLst>
      <p:ext uri="{BB962C8B-B14F-4D97-AF65-F5344CB8AC3E}">
        <p14:creationId xmlns:p14="http://schemas.microsoft.com/office/powerpoint/2010/main" val="270027440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F63B152-7103-4FFE-90AC-D94EB7F44A7E}" type="datetimeFigureOut">
              <a:rPr lang="en-US" smtClean="0"/>
              <a:t>6/30/2023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299DD5A9-4EF1-497E-92EF-2D23CF305E03}" type="slidenum">
              <a:rPr lang="en-US" smtClean="0"/>
              <a:t>‹#›</a:t>
            </a:fld>
            <a:endParaRPr lang="en-US" dirty="0"/>
          </a:p>
        </p:txBody>
      </p:sp>
    </p:spTree>
    <p:extLst>
      <p:ext uri="{BB962C8B-B14F-4D97-AF65-F5344CB8AC3E}">
        <p14:creationId xmlns:p14="http://schemas.microsoft.com/office/powerpoint/2010/main" val="55832357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F63B152-7103-4FFE-90AC-D94EB7F44A7E}" type="datetimeFigureOut">
              <a:rPr lang="en-US" smtClean="0"/>
              <a:t>6/30/2023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299DD5A9-4EF1-497E-92EF-2D23CF305E03}" type="slidenum">
              <a:rPr lang="en-US" smtClean="0"/>
              <a:t>‹#›</a:t>
            </a:fld>
            <a:endParaRPr lang="en-US" dirty="0"/>
          </a:p>
        </p:txBody>
      </p:sp>
    </p:spTree>
    <p:extLst>
      <p:ext uri="{BB962C8B-B14F-4D97-AF65-F5344CB8AC3E}">
        <p14:creationId xmlns:p14="http://schemas.microsoft.com/office/powerpoint/2010/main" val="284993523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F63B152-7103-4FFE-90AC-D94EB7F44A7E}" type="datetimeFigureOut">
              <a:rPr lang="en-US" smtClean="0"/>
              <a:t>6/30/2023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299DD5A9-4EF1-497E-92EF-2D23CF305E03}" type="slidenum">
              <a:rPr lang="en-US" smtClean="0"/>
              <a:t>‹#›</a:t>
            </a:fld>
            <a:endParaRPr lang="en-US" dirty="0"/>
          </a:p>
        </p:txBody>
      </p:sp>
    </p:spTree>
    <p:extLst>
      <p:ext uri="{BB962C8B-B14F-4D97-AF65-F5344CB8AC3E}">
        <p14:creationId xmlns:p14="http://schemas.microsoft.com/office/powerpoint/2010/main" val="61635196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EF63B152-7103-4FFE-90AC-D94EB7F44A7E}" type="datetimeFigureOut">
              <a:rPr lang="en-US" smtClean="0"/>
              <a:t>6/30/2023</a:t>
            </a:fld>
            <a:endParaRPr lang="en-US" dirty="0"/>
          </a:p>
        </p:txBody>
      </p:sp>
      <p:sp>
        <p:nvSpPr>
          <p:cNvPr id="6" name="Footer Placeholder 5"/>
          <p:cNvSpPr>
            <a:spLocks noGrp="1"/>
          </p:cNvSpPr>
          <p:nvPr>
            <p:ph type="ftr" sz="quarter" idx="11"/>
          </p:nvPr>
        </p:nvSpPr>
        <p:spPr>
          <a:xfrm>
            <a:off x="2103620" y="6375679"/>
            <a:ext cx="3482179" cy="345796"/>
          </a:xfrm>
        </p:spPr>
        <p:txBody>
          <a:bodyPr/>
          <a:lstStyle/>
          <a:p>
            <a:endParaRPr lang="en-US" dirty="0"/>
          </a:p>
        </p:txBody>
      </p:sp>
      <p:sp>
        <p:nvSpPr>
          <p:cNvPr id="7" name="Slide Number Placeholder 6"/>
          <p:cNvSpPr>
            <a:spLocks noGrp="1"/>
          </p:cNvSpPr>
          <p:nvPr>
            <p:ph type="sldNum" sz="quarter" idx="12"/>
          </p:nvPr>
        </p:nvSpPr>
        <p:spPr>
          <a:xfrm>
            <a:off x="5691014" y="6375679"/>
            <a:ext cx="1232456" cy="345796"/>
          </a:xfrm>
        </p:spPr>
        <p:txBody>
          <a:bodyPr/>
          <a:lstStyle/>
          <a:p>
            <a:fld id="{299DD5A9-4EF1-497E-92EF-2D23CF305E03}" type="slidenum">
              <a:rPr lang="en-US" smtClean="0"/>
              <a:t>‹#›</a:t>
            </a:fld>
            <a:endParaRPr lang="en-US" dirty="0"/>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98863721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US"/>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EF63B152-7103-4FFE-90AC-D94EB7F44A7E}" type="datetimeFigureOut">
              <a:rPr lang="en-US" smtClean="0"/>
              <a:t>6/30/2023</a:t>
            </a:fld>
            <a:endParaRPr lang="en-US" dirty="0"/>
          </a:p>
        </p:txBody>
      </p:sp>
      <p:sp>
        <p:nvSpPr>
          <p:cNvPr id="6" name="Footer Placeholder 5"/>
          <p:cNvSpPr>
            <a:spLocks noGrp="1"/>
          </p:cNvSpPr>
          <p:nvPr>
            <p:ph type="ftr" sz="quarter" idx="11"/>
          </p:nvPr>
        </p:nvSpPr>
        <p:spPr>
          <a:xfrm>
            <a:off x="2103621" y="6375679"/>
            <a:ext cx="3482178" cy="345796"/>
          </a:xfrm>
        </p:spPr>
        <p:txBody>
          <a:bodyPr/>
          <a:lstStyle/>
          <a:p>
            <a:endParaRPr lang="en-US" dirty="0"/>
          </a:p>
        </p:txBody>
      </p:sp>
      <p:sp>
        <p:nvSpPr>
          <p:cNvPr id="7" name="Slide Number Placeholder 6"/>
          <p:cNvSpPr>
            <a:spLocks noGrp="1"/>
          </p:cNvSpPr>
          <p:nvPr>
            <p:ph type="sldNum" sz="quarter" idx="12"/>
          </p:nvPr>
        </p:nvSpPr>
        <p:spPr>
          <a:xfrm>
            <a:off x="5687568" y="6375679"/>
            <a:ext cx="1234440" cy="345796"/>
          </a:xfrm>
        </p:spPr>
        <p:txBody>
          <a:bodyPr/>
          <a:lstStyle/>
          <a:p>
            <a:fld id="{299DD5A9-4EF1-497E-92EF-2D23CF305E03}" type="slidenum">
              <a:rPr lang="en-US" smtClean="0"/>
              <a:t>‹#›</a:t>
            </a:fld>
            <a:endParaRPr lang="en-US" dirty="0"/>
          </a:p>
        </p:txBody>
      </p:sp>
    </p:spTree>
    <p:extLst>
      <p:ext uri="{BB962C8B-B14F-4D97-AF65-F5344CB8AC3E}">
        <p14:creationId xmlns:p14="http://schemas.microsoft.com/office/powerpoint/2010/main" val="75383766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63B152-7103-4FFE-90AC-D94EB7F44A7E}" type="datetimeFigureOut">
              <a:rPr lang="en-US" smtClean="0"/>
              <a:t>6/30/2023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99DD5A9-4EF1-497E-92EF-2D23CF305E03}" type="slidenum">
              <a:rPr lang="en-US" smtClean="0"/>
              <a:t>‹#›</a:t>
            </a:fld>
            <a:endParaRPr lang="en-US" dirty="0"/>
          </a:p>
        </p:txBody>
      </p:sp>
    </p:spTree>
    <p:extLst>
      <p:ext uri="{BB962C8B-B14F-4D97-AF65-F5344CB8AC3E}">
        <p14:creationId xmlns:p14="http://schemas.microsoft.com/office/powerpoint/2010/main" val="16221916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63B152-7103-4FFE-90AC-D94EB7F44A7E}" type="datetimeFigureOut">
              <a:rPr lang="en-US" smtClean="0"/>
              <a:t>6/30/2023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99DD5A9-4EF1-497E-92EF-2D23CF305E03}" type="slidenum">
              <a:rPr lang="en-US" smtClean="0"/>
              <a:t>‹#›</a:t>
            </a:fld>
            <a:endParaRPr lang="en-US" dirty="0"/>
          </a:p>
        </p:txBody>
      </p:sp>
    </p:spTree>
    <p:extLst>
      <p:ext uri="{BB962C8B-B14F-4D97-AF65-F5344CB8AC3E}">
        <p14:creationId xmlns:p14="http://schemas.microsoft.com/office/powerpoint/2010/main" val="338359644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EF63B152-7103-4FFE-90AC-D94EB7F44A7E}" type="datetimeFigureOut">
              <a:rPr lang="en-US" smtClean="0"/>
              <a:t>6/30/2023</a:t>
            </a:fld>
            <a:endParaRPr lang="en-US" dirty="0"/>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299DD5A9-4EF1-497E-92EF-2D23CF305E03}" type="slidenum">
              <a:rPr lang="en-US" smtClean="0"/>
              <a:t>‹#›</a:t>
            </a:fld>
            <a:endParaRPr lang="en-US" dirty="0"/>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81807204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 Id="rId6" Type="http://schemas.openxmlformats.org/officeDocument/2006/relationships/image" Target="../media/image2.png"/><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6.xml"/><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188DD-3717-47D0-B979-D111D81B46AA}"/>
              </a:ext>
            </a:extLst>
          </p:cNvPr>
          <p:cNvSpPr>
            <a:spLocks noGrp="1"/>
          </p:cNvSpPr>
          <p:nvPr>
            <p:ph type="ctrTitle"/>
          </p:nvPr>
        </p:nvSpPr>
        <p:spPr>
          <a:xfrm>
            <a:off x="1714500" y="125129"/>
            <a:ext cx="10114948" cy="1491916"/>
          </a:xfrm>
        </p:spPr>
        <p:txBody>
          <a:bodyPr/>
          <a:lstStyle/>
          <a:p>
            <a:r>
              <a:rPr lang="en-US" sz="3600" b="1" dirty="0">
                <a:latin typeface="Century" panose="02040604050505020304" pitchFamily="18" charset="0"/>
              </a:rPr>
              <a:t>a study on food brand (burger Singh)</a:t>
            </a:r>
            <a:endParaRPr lang="en-US" sz="3600" dirty="0">
              <a:latin typeface="Bookman Old Style" panose="02050604050505020204" pitchFamily="18" charset="0"/>
            </a:endParaRPr>
          </a:p>
        </p:txBody>
      </p:sp>
      <p:pic>
        <p:nvPicPr>
          <p:cNvPr id="3" name="Picture 2" descr="A red and yellow logo&#10;&#10;Description automatically generated with low confidence">
            <a:extLst>
              <a:ext uri="{FF2B5EF4-FFF2-40B4-BE49-F238E27FC236}">
                <a16:creationId xmlns:a16="http://schemas.microsoft.com/office/drawing/2014/main" id="{72E7121B-A6C1-D99D-C1C5-4C62610D2E85}"/>
              </a:ext>
            </a:extLst>
          </p:cNvPr>
          <p:cNvPicPr>
            <a:picLocks noChangeAspect="1"/>
          </p:cNvPicPr>
          <p:nvPr/>
        </p:nvPicPr>
        <p:blipFill>
          <a:blip r:embed="rId2"/>
          <a:stretch>
            <a:fillRect/>
          </a:stretch>
        </p:blipFill>
        <p:spPr>
          <a:xfrm>
            <a:off x="4668814" y="1726964"/>
            <a:ext cx="3137836" cy="3137836"/>
          </a:xfrm>
          <a:prstGeom prst="rect">
            <a:avLst/>
          </a:prstGeom>
        </p:spPr>
      </p:pic>
      <p:sp>
        <p:nvSpPr>
          <p:cNvPr id="5" name="TextBox 4">
            <a:extLst>
              <a:ext uri="{FF2B5EF4-FFF2-40B4-BE49-F238E27FC236}">
                <a16:creationId xmlns:a16="http://schemas.microsoft.com/office/drawing/2014/main" id="{82FB767E-B241-3B44-D75F-6B28EE854D76}"/>
              </a:ext>
            </a:extLst>
          </p:cNvPr>
          <p:cNvSpPr txBox="1"/>
          <p:nvPr/>
        </p:nvSpPr>
        <p:spPr>
          <a:xfrm>
            <a:off x="570728" y="4797423"/>
            <a:ext cx="3260127" cy="1631216"/>
          </a:xfrm>
          <a:prstGeom prst="rect">
            <a:avLst/>
          </a:prstGeom>
          <a:noFill/>
        </p:spPr>
        <p:txBody>
          <a:bodyPr wrap="square">
            <a:spAutoFit/>
          </a:bodyPr>
          <a:lstStyle/>
          <a:p>
            <a:r>
              <a:rPr lang="en-US" sz="2000" dirty="0">
                <a:latin typeface="Bookman Old Style" panose="02050604050505020204" pitchFamily="18" charset="0"/>
              </a:rPr>
              <a:t>PRESENTATION BY:-</a:t>
            </a:r>
          </a:p>
          <a:p>
            <a:r>
              <a:rPr lang="en-US" sz="2000" dirty="0">
                <a:latin typeface="Bookman Old Style" panose="02050604050505020204" pitchFamily="18" charset="0"/>
              </a:rPr>
              <a:t>Aradhna Barve</a:t>
            </a:r>
          </a:p>
          <a:p>
            <a:r>
              <a:rPr lang="en-US" sz="2000" dirty="0">
                <a:latin typeface="Bookman Old Style" panose="02050604050505020204" pitchFamily="18" charset="0"/>
              </a:rPr>
              <a:t>Ananya Singh </a:t>
            </a:r>
          </a:p>
          <a:p>
            <a:r>
              <a:rPr lang="en-US" sz="2000" dirty="0">
                <a:latin typeface="Bookman Old Style" panose="02050604050505020204" pitchFamily="18" charset="0"/>
              </a:rPr>
              <a:t>Sujal  Ahirwar</a:t>
            </a:r>
          </a:p>
          <a:p>
            <a:r>
              <a:rPr lang="en-US" sz="2000" dirty="0">
                <a:latin typeface="Bookman Old Style" panose="02050604050505020204" pitchFamily="18" charset="0"/>
              </a:rPr>
              <a:t>Tanmay Dhakad</a:t>
            </a:r>
          </a:p>
        </p:txBody>
      </p:sp>
      <p:pic>
        <p:nvPicPr>
          <p:cNvPr id="6" name="Picture 2">
            <a:extLst>
              <a:ext uri="{FF2B5EF4-FFF2-40B4-BE49-F238E27FC236}">
                <a16:creationId xmlns:a16="http://schemas.microsoft.com/office/drawing/2014/main" id="{38982041-3476-109C-B806-0B0F92E059E1}"/>
              </a:ext>
            </a:extLst>
          </p:cNvPr>
          <p:cNvPicPr>
            <a:picLocks noChangeAspect="1" noChangeArrowheads="1"/>
          </p:cNvPicPr>
          <p:nvPr/>
        </p:nvPicPr>
        <p:blipFill>
          <a:blip r:embed="rId3" cstate="print"/>
          <a:srcRect/>
          <a:stretch>
            <a:fillRect/>
          </a:stretch>
        </p:blipFill>
        <p:spPr bwMode="auto">
          <a:xfrm>
            <a:off x="0" y="0"/>
            <a:ext cx="1714500" cy="552450"/>
          </a:xfrm>
          <a:prstGeom prst="rect">
            <a:avLst/>
          </a:prstGeom>
          <a:noFill/>
          <a:ln w="9525">
            <a:noFill/>
            <a:miter lim="800000"/>
            <a:headEnd/>
            <a:tailEnd/>
          </a:ln>
        </p:spPr>
      </p:pic>
    </p:spTree>
    <p:extLst>
      <p:ext uri="{BB962C8B-B14F-4D97-AF65-F5344CB8AC3E}">
        <p14:creationId xmlns:p14="http://schemas.microsoft.com/office/powerpoint/2010/main" val="195701730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prestig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5AA3322-72E9-63CF-1EFE-7A4126C82D66}"/>
              </a:ext>
            </a:extLst>
          </p:cNvPr>
          <p:cNvSpPr txBox="1">
            <a:spLocks/>
          </p:cNvSpPr>
          <p:nvPr/>
        </p:nvSpPr>
        <p:spPr>
          <a:xfrm>
            <a:off x="683394" y="423511"/>
            <a:ext cx="11040177" cy="779647"/>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a:lstStyle>
          <a:p>
            <a:pPr algn="ctr"/>
            <a:r>
              <a:rPr lang="en-IN" sz="3600" b="1" dirty="0">
                <a:latin typeface="Bookman Old Style" panose="02050604050505020204" pitchFamily="18" charset="0"/>
              </a:rPr>
              <a:t>Introduction</a:t>
            </a:r>
            <a:endParaRPr lang="en-US" sz="3600" b="1" dirty="0">
              <a:latin typeface="Bookman Old Style" panose="02050604050505020204" pitchFamily="18" charset="0"/>
            </a:endParaRPr>
          </a:p>
        </p:txBody>
      </p:sp>
      <p:pic>
        <p:nvPicPr>
          <p:cNvPr id="6" name="Picture 2">
            <a:extLst>
              <a:ext uri="{FF2B5EF4-FFF2-40B4-BE49-F238E27FC236}">
                <a16:creationId xmlns:a16="http://schemas.microsoft.com/office/drawing/2014/main" id="{9B794C95-9E47-D2A2-1DA1-09BFED5BBF64}"/>
              </a:ext>
            </a:extLst>
          </p:cNvPr>
          <p:cNvPicPr>
            <a:picLocks noChangeAspect="1" noChangeArrowheads="1"/>
          </p:cNvPicPr>
          <p:nvPr/>
        </p:nvPicPr>
        <p:blipFill>
          <a:blip r:embed="rId2" cstate="print"/>
          <a:srcRect/>
          <a:stretch>
            <a:fillRect/>
          </a:stretch>
        </p:blipFill>
        <p:spPr bwMode="auto">
          <a:xfrm>
            <a:off x="115503" y="150314"/>
            <a:ext cx="1934678" cy="623396"/>
          </a:xfrm>
          <a:prstGeom prst="rect">
            <a:avLst/>
          </a:prstGeom>
          <a:noFill/>
          <a:ln w="9525">
            <a:noFill/>
            <a:miter lim="800000"/>
            <a:headEnd/>
            <a:tailEnd/>
          </a:ln>
        </p:spPr>
      </p:pic>
      <p:sp>
        <p:nvSpPr>
          <p:cNvPr id="8" name="TextBox 7">
            <a:extLst>
              <a:ext uri="{FF2B5EF4-FFF2-40B4-BE49-F238E27FC236}">
                <a16:creationId xmlns:a16="http://schemas.microsoft.com/office/drawing/2014/main" id="{53575F02-FE1D-C28F-2F40-8956962E88A7}"/>
              </a:ext>
            </a:extLst>
          </p:cNvPr>
          <p:cNvSpPr txBox="1"/>
          <p:nvPr/>
        </p:nvSpPr>
        <p:spPr>
          <a:xfrm>
            <a:off x="1588168" y="1626669"/>
            <a:ext cx="9182501" cy="4154984"/>
          </a:xfrm>
          <a:prstGeom prst="rect">
            <a:avLst/>
          </a:prstGeom>
          <a:noFill/>
        </p:spPr>
        <p:txBody>
          <a:bodyPr wrap="square">
            <a:spAutoFit/>
          </a:bodyPr>
          <a:lstStyle/>
          <a:p>
            <a:r>
              <a:rPr lang="en-US" sz="2400" b="0" i="0" dirty="0">
                <a:solidFill>
                  <a:srgbClr val="374151"/>
                </a:solidFill>
                <a:effectLst/>
                <a:latin typeface="Bookman Old Style" panose="02050604050505020204" pitchFamily="18" charset="0"/>
              </a:rPr>
              <a:t>Burger Singh is a fast food chain that has disrupted the Indian fast food market with its unique menu offerings that fuse classic American fast food with Indian flavors. Founded in 2014, the company has quickly grown to become a favorite among young Indian consumers, with over 35 outlets across India, as well as locations in the United Kingdom and the United States. This case study analyzes how Burger Singh has been able to differentiate itself in a crowded market, leveraging innovative marketing and branding strategies, as well as menu innovation and a unique customer experience</a:t>
            </a:r>
            <a:endParaRPr lang="en-US" sz="2400" dirty="0">
              <a:latin typeface="Bookman Old Style" panose="02050604050505020204" pitchFamily="18" charset="0"/>
            </a:endParaRPr>
          </a:p>
        </p:txBody>
      </p:sp>
    </p:spTree>
    <p:extLst>
      <p:ext uri="{BB962C8B-B14F-4D97-AF65-F5344CB8AC3E}">
        <p14:creationId xmlns:p14="http://schemas.microsoft.com/office/powerpoint/2010/main" val="391908377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0AEE7A3-EA94-2B4F-88CA-169E322AD9DB}"/>
              </a:ext>
            </a:extLst>
          </p:cNvPr>
          <p:cNvSpPr>
            <a:spLocks noGrp="1"/>
          </p:cNvSpPr>
          <p:nvPr>
            <p:ph type="title"/>
          </p:nvPr>
        </p:nvSpPr>
        <p:spPr>
          <a:xfrm>
            <a:off x="914400" y="365761"/>
            <a:ext cx="10515600" cy="1039528"/>
          </a:xfrm>
        </p:spPr>
        <p:txBody>
          <a:bodyPr>
            <a:normAutofit/>
          </a:bodyPr>
          <a:lstStyle/>
          <a:p>
            <a:pPr algn="ctr"/>
            <a:r>
              <a:rPr lang="en-US" sz="3600" b="1" dirty="0">
                <a:latin typeface="Bookman Old Style" panose="02050604050505020204" pitchFamily="18" charset="0"/>
              </a:rPr>
              <a:t>About burger Singh</a:t>
            </a:r>
          </a:p>
        </p:txBody>
      </p:sp>
      <p:pic>
        <p:nvPicPr>
          <p:cNvPr id="6" name="Content Placeholder 5">
            <a:extLst>
              <a:ext uri="{FF2B5EF4-FFF2-40B4-BE49-F238E27FC236}">
                <a16:creationId xmlns:a16="http://schemas.microsoft.com/office/drawing/2014/main" id="{234B7C44-6820-18E6-3070-F40A05209ED3}"/>
              </a:ext>
            </a:extLst>
          </p:cNvPr>
          <p:cNvPicPr>
            <a:picLocks noGrp="1" noChangeAspect="1"/>
          </p:cNvPicPr>
          <p:nvPr>
            <p:ph idx="1"/>
          </p:nvPr>
        </p:nvPicPr>
        <p:blipFill>
          <a:blip r:embed="rId2">
            <a:clrChange>
              <a:clrFrom>
                <a:srgbClr val="000000">
                  <a:alpha val="0"/>
                </a:srgbClr>
              </a:clrFrom>
              <a:clrTo>
                <a:srgbClr val="000000">
                  <a:alpha val="0"/>
                </a:srgbClr>
              </a:clrTo>
            </a:clrChange>
          </a:blip>
          <a:stretch>
            <a:fillRect/>
          </a:stretch>
        </p:blipFill>
        <p:spPr>
          <a:xfrm>
            <a:off x="9651967" y="0"/>
            <a:ext cx="1905000" cy="1924050"/>
          </a:xfrm>
          <a:prstGeom prst="rect">
            <a:avLst/>
          </a:prstGeom>
        </p:spPr>
      </p:pic>
      <p:pic>
        <p:nvPicPr>
          <p:cNvPr id="7" name="Picture 2">
            <a:extLst>
              <a:ext uri="{FF2B5EF4-FFF2-40B4-BE49-F238E27FC236}">
                <a16:creationId xmlns:a16="http://schemas.microsoft.com/office/drawing/2014/main" id="{64DB1D0B-9A81-2278-4FBF-D9E641B12490}"/>
              </a:ext>
            </a:extLst>
          </p:cNvPr>
          <p:cNvPicPr>
            <a:picLocks noChangeAspect="1" noChangeArrowheads="1"/>
          </p:cNvPicPr>
          <p:nvPr/>
        </p:nvPicPr>
        <p:blipFill>
          <a:blip r:embed="rId3" cstate="print"/>
          <a:srcRect/>
          <a:stretch>
            <a:fillRect/>
          </a:stretch>
        </p:blipFill>
        <p:spPr bwMode="auto">
          <a:xfrm>
            <a:off x="86627" y="2138"/>
            <a:ext cx="1753002" cy="627596"/>
          </a:xfrm>
          <a:prstGeom prst="rect">
            <a:avLst/>
          </a:prstGeom>
          <a:noFill/>
          <a:ln w="9525">
            <a:noFill/>
            <a:miter lim="800000"/>
            <a:headEnd/>
            <a:tailEnd/>
          </a:ln>
        </p:spPr>
      </p:pic>
      <p:sp>
        <p:nvSpPr>
          <p:cNvPr id="8" name="TextBox 7">
            <a:extLst>
              <a:ext uri="{FF2B5EF4-FFF2-40B4-BE49-F238E27FC236}">
                <a16:creationId xmlns:a16="http://schemas.microsoft.com/office/drawing/2014/main" id="{2793E951-9E0B-8BB6-84D2-BE80BF931B9F}"/>
              </a:ext>
            </a:extLst>
          </p:cNvPr>
          <p:cNvSpPr txBox="1"/>
          <p:nvPr/>
        </p:nvSpPr>
        <p:spPr>
          <a:xfrm>
            <a:off x="990297" y="1795708"/>
            <a:ext cx="10701083" cy="4801314"/>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Bookman Old Style" panose="02050604050505020204" pitchFamily="18" charset="0"/>
              </a:rPr>
              <a:t> Burger Singh is Gurgaon based fast food chain which operates under the company name tipping Mr. Pink Pvt ltd.</a:t>
            </a:r>
          </a:p>
          <a:p>
            <a:pPr marL="285750" indent="-285750">
              <a:buFont typeface="Arial" panose="020B0604020202020204" pitchFamily="34" charset="0"/>
              <a:buChar char="•"/>
            </a:pPr>
            <a:endParaRPr lang="en-US" dirty="0">
              <a:latin typeface="Bookman Old Style" panose="02050604050505020204" pitchFamily="18" charset="0"/>
            </a:endParaRPr>
          </a:p>
          <a:p>
            <a:pPr marL="285750" indent="-285750">
              <a:buFont typeface="Arial" panose="020B0604020202020204" pitchFamily="34" charset="0"/>
              <a:buChar char="•"/>
            </a:pPr>
            <a:r>
              <a:rPr lang="en-US" dirty="0">
                <a:latin typeface="Bookman Old Style" panose="02050604050505020204" pitchFamily="18" charset="0"/>
              </a:rPr>
              <a:t>Burger Singh was founded in November 2014 by three childhood friends </a:t>
            </a:r>
            <a:r>
              <a:rPr lang="en-US" dirty="0" err="1">
                <a:latin typeface="Bookman Old Style" panose="02050604050505020204" pitchFamily="18" charset="0"/>
              </a:rPr>
              <a:t>Kabirjeet</a:t>
            </a:r>
            <a:r>
              <a:rPr lang="en-US" dirty="0">
                <a:latin typeface="Bookman Old Style" panose="02050604050505020204" pitchFamily="18" charset="0"/>
              </a:rPr>
              <a:t> Singh ,Rahul Seth and Nitin Rana</a:t>
            </a:r>
          </a:p>
          <a:p>
            <a:r>
              <a:rPr lang="en-US" dirty="0">
                <a:latin typeface="Bookman Old Style" panose="02050604050505020204" pitchFamily="18" charset="0"/>
              </a:rPr>
              <a:t> </a:t>
            </a:r>
          </a:p>
          <a:p>
            <a:pPr marL="285750" indent="-285750">
              <a:buFont typeface="Arial" panose="020B0604020202020204" pitchFamily="34" charset="0"/>
              <a:buChar char="•"/>
            </a:pPr>
            <a:r>
              <a:rPr lang="en-US" dirty="0">
                <a:latin typeface="Bookman Old Style" panose="02050604050505020204" pitchFamily="18" charset="0"/>
              </a:rPr>
              <a:t>Kabir Jeet Singh – Founder</a:t>
            </a:r>
          </a:p>
          <a:p>
            <a:pPr marL="285750" indent="-285750">
              <a:buFont typeface="Arial" panose="020B0604020202020204" pitchFamily="34" charset="0"/>
              <a:buChar char="•"/>
            </a:pPr>
            <a:r>
              <a:rPr lang="en-US" dirty="0">
                <a:latin typeface="Bookman Old Style" panose="02050604050505020204" pitchFamily="18" charset="0"/>
              </a:rPr>
              <a:t>Nitish Rana – Co -Founder </a:t>
            </a:r>
          </a:p>
          <a:p>
            <a:endParaRPr lang="en-US" dirty="0">
              <a:latin typeface="Bookman Old Style" panose="02050604050505020204" pitchFamily="18" charset="0"/>
            </a:endParaRPr>
          </a:p>
          <a:p>
            <a:r>
              <a:rPr lang="en-US" b="0" i="0" dirty="0">
                <a:solidFill>
                  <a:srgbClr val="374151"/>
                </a:solidFill>
                <a:effectLst/>
                <a:latin typeface="Bookman Old Style" panose="02050604050505020204" pitchFamily="18" charset="0"/>
              </a:rPr>
              <a:t>Burger Singh has followed a unique market strategy that has helped it stand out from other fast food chains in the Indian market. Here are some of the key elements of the company's market strategy:</a:t>
            </a:r>
          </a:p>
          <a:p>
            <a:r>
              <a:rPr lang="en-US" dirty="0">
                <a:solidFill>
                  <a:srgbClr val="374151"/>
                </a:solidFill>
                <a:latin typeface="Bookman Old Style" panose="02050604050505020204" pitchFamily="18" charset="0"/>
              </a:rPr>
              <a:t> </a:t>
            </a:r>
          </a:p>
          <a:p>
            <a:pPr marL="342900" indent="-342900">
              <a:buFont typeface="+mj-lt"/>
              <a:buAutoNum type="arabicPeriod"/>
            </a:pPr>
            <a:r>
              <a:rPr lang="en-US" dirty="0">
                <a:solidFill>
                  <a:srgbClr val="374151"/>
                </a:solidFill>
                <a:latin typeface="Bookman Old Style" panose="02050604050505020204" pitchFamily="18" charset="0"/>
              </a:rPr>
              <a:t>Unique Menu</a:t>
            </a:r>
          </a:p>
          <a:p>
            <a:pPr marL="342900" indent="-342900">
              <a:buFont typeface="+mj-lt"/>
              <a:buAutoNum type="arabicPeriod"/>
            </a:pPr>
            <a:r>
              <a:rPr lang="en-US" dirty="0">
                <a:solidFill>
                  <a:srgbClr val="374151"/>
                </a:solidFill>
                <a:latin typeface="Bookman Old Style" panose="02050604050505020204" pitchFamily="18" charset="0"/>
              </a:rPr>
              <a:t>Social Media Marketing</a:t>
            </a:r>
          </a:p>
          <a:p>
            <a:pPr marL="342900" indent="-342900">
              <a:buFont typeface="+mj-lt"/>
              <a:buAutoNum type="arabicPeriod"/>
            </a:pPr>
            <a:r>
              <a:rPr lang="en-US" dirty="0">
                <a:solidFill>
                  <a:srgbClr val="374151"/>
                </a:solidFill>
                <a:latin typeface="Bookman Old Style" panose="02050604050505020204" pitchFamily="18" charset="0"/>
              </a:rPr>
              <a:t>Customer Engagement</a:t>
            </a:r>
          </a:p>
          <a:p>
            <a:pPr marL="342900" indent="-342900">
              <a:buFont typeface="+mj-lt"/>
              <a:buAutoNum type="arabicPeriod"/>
            </a:pPr>
            <a:r>
              <a:rPr lang="en-US" dirty="0">
                <a:solidFill>
                  <a:srgbClr val="374151"/>
                </a:solidFill>
                <a:latin typeface="Bookman Old Style" panose="02050604050505020204" pitchFamily="18" charset="0"/>
              </a:rPr>
              <a:t>Lean Cost Structure</a:t>
            </a:r>
            <a:endParaRPr lang="en-US" dirty="0">
              <a:latin typeface="Bookman Old Style" panose="02050604050505020204" pitchFamily="18" charset="0"/>
            </a:endParaRPr>
          </a:p>
        </p:txBody>
      </p:sp>
    </p:spTree>
    <p:extLst>
      <p:ext uri="{BB962C8B-B14F-4D97-AF65-F5344CB8AC3E}">
        <p14:creationId xmlns:p14="http://schemas.microsoft.com/office/powerpoint/2010/main" val="107108092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9DC19-09E0-9185-EC17-53BA08E141B1}"/>
              </a:ext>
            </a:extLst>
          </p:cNvPr>
          <p:cNvSpPr>
            <a:spLocks noGrp="1"/>
          </p:cNvSpPr>
          <p:nvPr>
            <p:ph type="title"/>
          </p:nvPr>
        </p:nvSpPr>
        <p:spPr>
          <a:xfrm>
            <a:off x="1126550" y="232342"/>
            <a:ext cx="10178322" cy="1492132"/>
          </a:xfrm>
        </p:spPr>
        <p:txBody>
          <a:bodyPr/>
          <a:lstStyle/>
          <a:p>
            <a:r>
              <a:rPr lang="en-IN" dirty="0">
                <a:solidFill>
                  <a:schemeClr val="tx1"/>
                </a:solidFill>
                <a:effectLst>
                  <a:outerShdw blurRad="38100" dist="38100" dir="2700000" algn="tl">
                    <a:srgbClr val="000000">
                      <a:alpha val="43137"/>
                    </a:srgbClr>
                  </a:outerShdw>
                </a:effectLst>
                <a:latin typeface="Bookman Old Style" panose="02050604050505020204" pitchFamily="18" charset="0"/>
              </a:rPr>
              <a:t>      Literature</a:t>
            </a:r>
            <a:r>
              <a:rPr lang="en-IN" dirty="0">
                <a:solidFill>
                  <a:schemeClr val="tx1"/>
                </a:solidFill>
                <a:latin typeface="Bookman Old Style" panose="02050604050505020204" pitchFamily="18" charset="0"/>
              </a:rPr>
              <a:t> </a:t>
            </a:r>
            <a:r>
              <a:rPr lang="en-IN" dirty="0">
                <a:solidFill>
                  <a:schemeClr val="tx1"/>
                </a:solidFill>
                <a:effectLst>
                  <a:outerShdw blurRad="38100" dist="38100" dir="2700000" algn="tl">
                    <a:srgbClr val="000000">
                      <a:alpha val="43137"/>
                    </a:srgbClr>
                  </a:outerShdw>
                </a:effectLst>
                <a:latin typeface="Bookman Old Style" panose="02050604050505020204" pitchFamily="18" charset="0"/>
              </a:rPr>
              <a:t>REVIEW</a:t>
            </a:r>
            <a:r>
              <a:rPr lang="en-IN" dirty="0">
                <a:solidFill>
                  <a:schemeClr val="tx1"/>
                </a:solidFill>
                <a:latin typeface="Bookman Old Style" panose="02050604050505020204" pitchFamily="18" charset="0"/>
              </a:rPr>
              <a:t> </a:t>
            </a:r>
            <a:endParaRPr lang="en-US" dirty="0"/>
          </a:p>
        </p:txBody>
      </p:sp>
      <p:sp>
        <p:nvSpPr>
          <p:cNvPr id="3" name="Content Placeholder 2">
            <a:extLst>
              <a:ext uri="{FF2B5EF4-FFF2-40B4-BE49-F238E27FC236}">
                <a16:creationId xmlns:a16="http://schemas.microsoft.com/office/drawing/2014/main" id="{567E0C0C-59B5-3448-8769-19DD548D02D2}"/>
              </a:ext>
            </a:extLst>
          </p:cNvPr>
          <p:cNvSpPr>
            <a:spLocks noGrp="1"/>
          </p:cNvSpPr>
          <p:nvPr>
            <p:ph idx="1"/>
          </p:nvPr>
        </p:nvSpPr>
        <p:spPr>
          <a:xfrm>
            <a:off x="1126550" y="1724474"/>
            <a:ext cx="10394890" cy="3593591"/>
          </a:xfrm>
        </p:spPr>
        <p:txBody>
          <a:bodyPr>
            <a:normAutofit fontScale="92500" lnSpcReduction="10000"/>
          </a:bodyPr>
          <a:lstStyle/>
          <a:p>
            <a:pPr algn="just"/>
            <a:r>
              <a:rPr lang="en-US" sz="2000" dirty="0">
                <a:solidFill>
                  <a:schemeClr val="tx1"/>
                </a:solidFill>
              </a:rPr>
              <a:t> </a:t>
            </a:r>
            <a:r>
              <a:rPr lang="en-US" sz="2100" dirty="0">
                <a:solidFill>
                  <a:schemeClr val="tx1"/>
                </a:solidFill>
              </a:rPr>
              <a:t>Academic year: 2020/2021  University-SRM Institute of Science and Technology                                  by-SANJAY MEHROTRA</a:t>
            </a:r>
          </a:p>
          <a:p>
            <a:pPr marL="0" indent="0" algn="just">
              <a:buNone/>
            </a:pPr>
            <a:r>
              <a:rPr lang="en-US" sz="2100" dirty="0">
                <a:solidFill>
                  <a:schemeClr val="tx1"/>
                </a:solidFill>
              </a:rPr>
              <a:t>    This Article shows how Burger Singh plans to be the king in QSR(Quick Service </a:t>
            </a:r>
            <a:r>
              <a:rPr lang="en-US" sz="2100" dirty="0" err="1">
                <a:solidFill>
                  <a:schemeClr val="tx1"/>
                </a:solidFill>
              </a:rPr>
              <a:t>Resturant</a:t>
            </a:r>
            <a:r>
              <a:rPr lang="en-US" sz="2100" dirty="0">
                <a:solidFill>
                  <a:schemeClr val="tx1"/>
                </a:solidFill>
              </a:rPr>
              <a:t> )</a:t>
            </a:r>
          </a:p>
          <a:p>
            <a:pPr marL="0" indent="0" algn="just">
              <a:buNone/>
            </a:pPr>
            <a:endParaRPr lang="en-US" sz="2100" dirty="0">
              <a:solidFill>
                <a:schemeClr val="tx1"/>
              </a:solidFill>
            </a:endParaRPr>
          </a:p>
          <a:p>
            <a:pPr marL="0" indent="0" algn="just">
              <a:buNone/>
            </a:pPr>
            <a:r>
              <a:rPr lang="en-US" sz="2100" dirty="0">
                <a:solidFill>
                  <a:schemeClr val="tx1"/>
                </a:solidFill>
              </a:rPr>
              <a:t>    Burger Singh’s marketing plan includes all the required aspects of the company ,which are used in approaching a maximum customer base and increasing its market share.</a:t>
            </a:r>
          </a:p>
          <a:p>
            <a:pPr marL="0" indent="0" algn="just">
              <a:buNone/>
            </a:pPr>
            <a:endParaRPr lang="en-US" sz="2100" dirty="0">
              <a:solidFill>
                <a:schemeClr val="tx1"/>
              </a:solidFill>
            </a:endParaRPr>
          </a:p>
          <a:p>
            <a:pPr marL="0" indent="0" algn="just">
              <a:buNone/>
            </a:pPr>
            <a:r>
              <a:rPr lang="en-US" sz="2100" dirty="0">
                <a:solidFill>
                  <a:schemeClr val="tx1"/>
                </a:solidFill>
              </a:rPr>
              <a:t>Burger Singh’s SWOT </a:t>
            </a:r>
            <a:r>
              <a:rPr lang="en-US" sz="2100" dirty="0" err="1">
                <a:solidFill>
                  <a:schemeClr val="tx1"/>
                </a:solidFill>
              </a:rPr>
              <a:t>ananlysis</a:t>
            </a:r>
            <a:r>
              <a:rPr lang="en-US" sz="2100" dirty="0">
                <a:solidFill>
                  <a:schemeClr val="tx1"/>
                </a:solidFill>
              </a:rPr>
              <a:t> identifies its company strengths ,weaknesses, </a:t>
            </a:r>
            <a:r>
              <a:rPr lang="en-US" sz="2100" dirty="0" err="1">
                <a:solidFill>
                  <a:schemeClr val="tx1"/>
                </a:solidFill>
              </a:rPr>
              <a:t>oppourtunities</a:t>
            </a:r>
            <a:r>
              <a:rPr lang="en-US" sz="2100" dirty="0">
                <a:solidFill>
                  <a:schemeClr val="tx1"/>
                </a:solidFill>
              </a:rPr>
              <a:t> and threats in three stakeholders group. These factors can be used to maximize company potential for accomplishes goals in the fast food industry.</a:t>
            </a:r>
          </a:p>
          <a:p>
            <a:pPr marL="0" indent="0" algn="just">
              <a:buNone/>
            </a:pPr>
            <a:endParaRPr lang="en-US" sz="2000" dirty="0">
              <a:solidFill>
                <a:schemeClr val="tx1"/>
              </a:solidFill>
            </a:endParaRPr>
          </a:p>
        </p:txBody>
      </p:sp>
    </p:spTree>
    <p:extLst>
      <p:ext uri="{BB962C8B-B14F-4D97-AF65-F5344CB8AC3E}">
        <p14:creationId xmlns:p14="http://schemas.microsoft.com/office/powerpoint/2010/main" val="347955795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C50FD23-9573-23BA-694F-0B624F0124E0}"/>
              </a:ext>
            </a:extLst>
          </p:cNvPr>
          <p:cNvSpPr txBox="1"/>
          <p:nvPr/>
        </p:nvSpPr>
        <p:spPr>
          <a:xfrm flipH="1">
            <a:off x="1078028" y="712269"/>
            <a:ext cx="10712917" cy="5909310"/>
          </a:xfrm>
          <a:prstGeom prst="rect">
            <a:avLst/>
          </a:prstGeom>
          <a:noFill/>
        </p:spPr>
        <p:txBody>
          <a:bodyPr wrap="square" rtlCol="0">
            <a:spAutoFit/>
          </a:bodyPr>
          <a:lstStyle/>
          <a:p>
            <a:pPr marL="285750" indent="-285750" algn="just">
              <a:buFont typeface="Arial" panose="020B0604020202020204" pitchFamily="34" charset="0"/>
              <a:buChar char="•"/>
            </a:pPr>
            <a:r>
              <a:rPr lang="en-US" dirty="0">
                <a:latin typeface="Book Antiqua" panose="02040602050305030304" pitchFamily="18" charset="0"/>
              </a:rPr>
              <a:t>JULY 21 2022</a:t>
            </a:r>
          </a:p>
          <a:p>
            <a:pPr algn="just"/>
            <a:r>
              <a:rPr lang="en-US" dirty="0">
                <a:latin typeface="Book Antiqua" panose="02040602050305030304" pitchFamily="18" charset="0"/>
              </a:rPr>
              <a:t>     By Ajinkya </a:t>
            </a:r>
            <a:r>
              <a:rPr lang="en-US" dirty="0" err="1">
                <a:latin typeface="Book Antiqua" panose="02040602050305030304" pitchFamily="18" charset="0"/>
              </a:rPr>
              <a:t>Salni</a:t>
            </a:r>
            <a:endParaRPr lang="en-US" dirty="0">
              <a:latin typeface="Book Antiqua" panose="02040602050305030304" pitchFamily="18" charset="0"/>
            </a:endParaRPr>
          </a:p>
          <a:p>
            <a:pPr algn="just"/>
            <a:r>
              <a:rPr lang="en-US" dirty="0">
                <a:latin typeface="Book Antiqua" panose="02040602050305030304" pitchFamily="18" charset="0"/>
              </a:rPr>
              <a:t>     </a:t>
            </a:r>
          </a:p>
          <a:p>
            <a:pPr algn="just"/>
            <a:r>
              <a:rPr lang="en-US" dirty="0">
                <a:latin typeface="Book Antiqua" panose="02040602050305030304" pitchFamily="18" charset="0"/>
              </a:rPr>
              <a:t>Burger Singh has raised 30 crore in series. A funding round led by </a:t>
            </a:r>
            <a:r>
              <a:rPr lang="en-US" dirty="0" err="1">
                <a:latin typeface="Book Antiqua" panose="02040602050305030304" pitchFamily="18" charset="0"/>
              </a:rPr>
              <a:t>Negen</a:t>
            </a:r>
            <a:r>
              <a:rPr lang="en-US" dirty="0">
                <a:latin typeface="Book Antiqua" panose="02040602050305030304" pitchFamily="18" charset="0"/>
              </a:rPr>
              <a:t> Capital the fresh capital will be used to expand the franchise with additional 120 food outlets , accelerates brand growth and hiring.</a:t>
            </a:r>
          </a:p>
          <a:p>
            <a:pPr algn="just"/>
            <a:endParaRPr lang="en-US" dirty="0">
              <a:latin typeface="Book Antiqua" panose="02040602050305030304" pitchFamily="18" charset="0"/>
            </a:endParaRPr>
          </a:p>
          <a:p>
            <a:pPr algn="just"/>
            <a:r>
              <a:rPr lang="en-US" dirty="0">
                <a:latin typeface="Book Antiqua" panose="02040602050305030304" pitchFamily="18" charset="0"/>
              </a:rPr>
              <a:t>The company is the fastest growing burger chain of India origin . It also has the country’s 3</a:t>
            </a:r>
            <a:r>
              <a:rPr lang="en-US" baseline="30000" dirty="0">
                <a:latin typeface="Book Antiqua" panose="02040602050305030304" pitchFamily="18" charset="0"/>
              </a:rPr>
              <a:t>rd</a:t>
            </a:r>
            <a:r>
              <a:rPr lang="en-US" dirty="0">
                <a:latin typeface="Book Antiqua" panose="02040602050305030304" pitchFamily="18" charset="0"/>
              </a:rPr>
              <a:t> highest burger delivery volumes.</a:t>
            </a:r>
          </a:p>
          <a:p>
            <a:pPr algn="just"/>
            <a:endParaRPr lang="en-US" dirty="0"/>
          </a:p>
          <a:p>
            <a:pPr marL="285750" indent="-285750" algn="just">
              <a:buFont typeface="Arial" panose="020B0604020202020204" pitchFamily="34" charset="0"/>
              <a:buChar char="•"/>
            </a:pPr>
            <a:r>
              <a:rPr lang="en-US" dirty="0">
                <a:latin typeface="Book Antiqua" panose="02040602050305030304" pitchFamily="18" charset="0"/>
              </a:rPr>
              <a:t>5 OCTOBER 2015 </a:t>
            </a:r>
          </a:p>
          <a:p>
            <a:pPr algn="just"/>
            <a:r>
              <a:rPr lang="en-US" dirty="0">
                <a:latin typeface="Book Antiqua" panose="02040602050305030304" pitchFamily="18" charset="0"/>
              </a:rPr>
              <a:t>     By Priyanka Sahay   </a:t>
            </a:r>
          </a:p>
          <a:p>
            <a:pPr algn="just"/>
            <a:r>
              <a:rPr lang="en-US" dirty="0">
                <a:latin typeface="Book Antiqua" panose="02040602050305030304" pitchFamily="18" charset="0"/>
              </a:rPr>
              <a:t>                                                                                                                                                                                 </a:t>
            </a:r>
          </a:p>
          <a:p>
            <a:pPr algn="just"/>
            <a:r>
              <a:rPr lang="en-US" dirty="0">
                <a:latin typeface="Book Antiqua" panose="02040602050305030304" pitchFamily="18" charset="0"/>
              </a:rPr>
              <a:t>     According to this report, Burger Singh is working with Tipping Mr. Pink Pvt ltd to expand its business.</a:t>
            </a:r>
          </a:p>
          <a:p>
            <a:pPr algn="just"/>
            <a:endParaRPr lang="en-US" dirty="0">
              <a:latin typeface="Book Antiqua" panose="02040602050305030304" pitchFamily="18" charset="0"/>
            </a:endParaRPr>
          </a:p>
          <a:p>
            <a:pPr algn="just"/>
            <a:r>
              <a:rPr lang="en-US" dirty="0">
                <a:latin typeface="Book Antiqua" panose="02040602050305030304" pitchFamily="18" charset="0"/>
              </a:rPr>
              <a:t>Gurgaon based Tipping Mr. Pink Pvt ltd ;Which  runs QSR chain and online ordering site Burger Singh ,has raised $500,000 in fresh funds from a group of Investors.</a:t>
            </a:r>
            <a:endParaRPr lang="en-US" dirty="0"/>
          </a:p>
          <a:p>
            <a:pPr algn="just"/>
            <a:r>
              <a:rPr lang="en-US" dirty="0"/>
              <a:t> </a:t>
            </a:r>
          </a:p>
          <a:p>
            <a:pPr algn="just"/>
            <a:endParaRPr lang="en-US" dirty="0"/>
          </a:p>
          <a:p>
            <a:pPr algn="just"/>
            <a:endParaRPr lang="en-US" dirty="0"/>
          </a:p>
          <a:p>
            <a:pPr algn="just"/>
            <a:endParaRPr lang="en-US" dirty="0"/>
          </a:p>
        </p:txBody>
      </p:sp>
    </p:spTree>
    <p:extLst>
      <p:ext uri="{BB962C8B-B14F-4D97-AF65-F5344CB8AC3E}">
        <p14:creationId xmlns:p14="http://schemas.microsoft.com/office/powerpoint/2010/main" val="334922355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4" name="Rectangle 7">
            <a:extLst>
              <a:ext uri="{FF2B5EF4-FFF2-40B4-BE49-F238E27FC236}">
                <a16:creationId xmlns:a16="http://schemas.microsoft.com/office/drawing/2014/main" id="{06F0F283-C8B6-4598-89C9-C404C98A57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reeform: Shape 9">
            <a:extLst>
              <a:ext uri="{FF2B5EF4-FFF2-40B4-BE49-F238E27FC236}">
                <a16:creationId xmlns:a16="http://schemas.microsoft.com/office/drawing/2014/main" id="{E473B0C0-761B-443F-97A0-9D6E01FBB7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1" y="-2"/>
            <a:ext cx="6300250" cy="6858002"/>
          </a:xfrm>
          <a:custGeom>
            <a:avLst/>
            <a:gdLst>
              <a:gd name="connsiteX0" fmla="*/ 0 w 6300250"/>
              <a:gd name="connsiteY0" fmla="*/ 0 h 6858002"/>
              <a:gd name="connsiteX1" fmla="*/ 3149600 w 6300250"/>
              <a:gd name="connsiteY1" fmla="*/ 0 h 6858002"/>
              <a:gd name="connsiteX2" fmla="*/ 3149600 w 6300250"/>
              <a:gd name="connsiteY2" fmla="*/ 2 h 6858002"/>
              <a:gd name="connsiteX3" fmla="*/ 6110455 w 6300250"/>
              <a:gd name="connsiteY3" fmla="*/ 2 h 6858002"/>
              <a:gd name="connsiteX4" fmla="*/ 6115495 w 6300250"/>
              <a:gd name="connsiteY4" fmla="*/ 66677 h 6858002"/>
              <a:gd name="connsiteX5" fmla="*/ 6123892 w 6300250"/>
              <a:gd name="connsiteY5" fmla="*/ 122239 h 6858002"/>
              <a:gd name="connsiteX6" fmla="*/ 6133970 w 6300250"/>
              <a:gd name="connsiteY6" fmla="*/ 174627 h 6858002"/>
              <a:gd name="connsiteX7" fmla="*/ 6150766 w 6300250"/>
              <a:gd name="connsiteY7" fmla="*/ 217489 h 6858002"/>
              <a:gd name="connsiteX8" fmla="*/ 6167562 w 6300250"/>
              <a:gd name="connsiteY8" fmla="*/ 260352 h 6858002"/>
              <a:gd name="connsiteX9" fmla="*/ 6187717 w 6300250"/>
              <a:gd name="connsiteY9" fmla="*/ 296864 h 6858002"/>
              <a:gd name="connsiteX10" fmla="*/ 6207872 w 6300250"/>
              <a:gd name="connsiteY10" fmla="*/ 334964 h 6858002"/>
              <a:gd name="connsiteX11" fmla="*/ 6226348 w 6300250"/>
              <a:gd name="connsiteY11" fmla="*/ 369889 h 6858002"/>
              <a:gd name="connsiteX12" fmla="*/ 6244823 w 6300250"/>
              <a:gd name="connsiteY12" fmla="*/ 409577 h 6858002"/>
              <a:gd name="connsiteX13" fmla="*/ 6261619 w 6300250"/>
              <a:gd name="connsiteY13" fmla="*/ 450852 h 6858002"/>
              <a:gd name="connsiteX14" fmla="*/ 6276736 w 6300250"/>
              <a:gd name="connsiteY14" fmla="*/ 496889 h 6858002"/>
              <a:gd name="connsiteX15" fmla="*/ 6288493 w 6300250"/>
              <a:gd name="connsiteY15" fmla="*/ 546102 h 6858002"/>
              <a:gd name="connsiteX16" fmla="*/ 6296891 w 6300250"/>
              <a:gd name="connsiteY16" fmla="*/ 606427 h 6858002"/>
              <a:gd name="connsiteX17" fmla="*/ 6300250 w 6300250"/>
              <a:gd name="connsiteY17" fmla="*/ 673102 h 6858002"/>
              <a:gd name="connsiteX18" fmla="*/ 6296891 w 6300250"/>
              <a:gd name="connsiteY18" fmla="*/ 744539 h 6858002"/>
              <a:gd name="connsiteX19" fmla="*/ 6288493 w 6300250"/>
              <a:gd name="connsiteY19" fmla="*/ 801689 h 6858002"/>
              <a:gd name="connsiteX20" fmla="*/ 6276736 w 6300250"/>
              <a:gd name="connsiteY20" fmla="*/ 854077 h 6858002"/>
              <a:gd name="connsiteX21" fmla="*/ 6261619 w 6300250"/>
              <a:gd name="connsiteY21" fmla="*/ 901702 h 6858002"/>
              <a:gd name="connsiteX22" fmla="*/ 6244823 w 6300250"/>
              <a:gd name="connsiteY22" fmla="*/ 942977 h 6858002"/>
              <a:gd name="connsiteX23" fmla="*/ 6224668 w 6300250"/>
              <a:gd name="connsiteY23" fmla="*/ 981077 h 6858002"/>
              <a:gd name="connsiteX24" fmla="*/ 6204513 w 6300250"/>
              <a:gd name="connsiteY24" fmla="*/ 1017589 h 6858002"/>
              <a:gd name="connsiteX25" fmla="*/ 6184358 w 6300250"/>
              <a:gd name="connsiteY25" fmla="*/ 1055689 h 6858002"/>
              <a:gd name="connsiteX26" fmla="*/ 6165882 w 6300250"/>
              <a:gd name="connsiteY26" fmla="*/ 1095377 h 6858002"/>
              <a:gd name="connsiteX27" fmla="*/ 6147406 w 6300250"/>
              <a:gd name="connsiteY27" fmla="*/ 1136652 h 6858002"/>
              <a:gd name="connsiteX28" fmla="*/ 6132291 w 6300250"/>
              <a:gd name="connsiteY28" fmla="*/ 1182689 h 6858002"/>
              <a:gd name="connsiteX29" fmla="*/ 6122213 w 6300250"/>
              <a:gd name="connsiteY29" fmla="*/ 1235077 h 6858002"/>
              <a:gd name="connsiteX30" fmla="*/ 6112135 w 6300250"/>
              <a:gd name="connsiteY30" fmla="*/ 1295402 h 6858002"/>
              <a:gd name="connsiteX31" fmla="*/ 6110455 w 6300250"/>
              <a:gd name="connsiteY31" fmla="*/ 1363664 h 6858002"/>
              <a:gd name="connsiteX32" fmla="*/ 6112135 w 6300250"/>
              <a:gd name="connsiteY32" fmla="*/ 1431927 h 6858002"/>
              <a:gd name="connsiteX33" fmla="*/ 6122213 w 6300250"/>
              <a:gd name="connsiteY33" fmla="*/ 1492252 h 6858002"/>
              <a:gd name="connsiteX34" fmla="*/ 6132291 w 6300250"/>
              <a:gd name="connsiteY34" fmla="*/ 1544639 h 6858002"/>
              <a:gd name="connsiteX35" fmla="*/ 6147406 w 6300250"/>
              <a:gd name="connsiteY35" fmla="*/ 1589089 h 6858002"/>
              <a:gd name="connsiteX36" fmla="*/ 6165882 w 6300250"/>
              <a:gd name="connsiteY36" fmla="*/ 1631952 h 6858002"/>
              <a:gd name="connsiteX37" fmla="*/ 6184358 w 6300250"/>
              <a:gd name="connsiteY37" fmla="*/ 1671639 h 6858002"/>
              <a:gd name="connsiteX38" fmla="*/ 6204513 w 6300250"/>
              <a:gd name="connsiteY38" fmla="*/ 1708152 h 6858002"/>
              <a:gd name="connsiteX39" fmla="*/ 6224668 w 6300250"/>
              <a:gd name="connsiteY39" fmla="*/ 1743077 h 6858002"/>
              <a:gd name="connsiteX40" fmla="*/ 6244823 w 6300250"/>
              <a:gd name="connsiteY40" fmla="*/ 1782764 h 6858002"/>
              <a:gd name="connsiteX41" fmla="*/ 6261619 w 6300250"/>
              <a:gd name="connsiteY41" fmla="*/ 1824039 h 6858002"/>
              <a:gd name="connsiteX42" fmla="*/ 6276736 w 6300250"/>
              <a:gd name="connsiteY42" fmla="*/ 1870077 h 6858002"/>
              <a:gd name="connsiteX43" fmla="*/ 6288493 w 6300250"/>
              <a:gd name="connsiteY43" fmla="*/ 1922464 h 6858002"/>
              <a:gd name="connsiteX44" fmla="*/ 6296891 w 6300250"/>
              <a:gd name="connsiteY44" fmla="*/ 1982789 h 6858002"/>
              <a:gd name="connsiteX45" fmla="*/ 6300250 w 6300250"/>
              <a:gd name="connsiteY45" fmla="*/ 2051052 h 6858002"/>
              <a:gd name="connsiteX46" fmla="*/ 6296891 w 6300250"/>
              <a:gd name="connsiteY46" fmla="*/ 2119314 h 6858002"/>
              <a:gd name="connsiteX47" fmla="*/ 6288493 w 6300250"/>
              <a:gd name="connsiteY47" fmla="*/ 2179639 h 6858002"/>
              <a:gd name="connsiteX48" fmla="*/ 6276736 w 6300250"/>
              <a:gd name="connsiteY48" fmla="*/ 2232027 h 6858002"/>
              <a:gd name="connsiteX49" fmla="*/ 6261619 w 6300250"/>
              <a:gd name="connsiteY49" fmla="*/ 2278064 h 6858002"/>
              <a:gd name="connsiteX50" fmla="*/ 6244823 w 6300250"/>
              <a:gd name="connsiteY50" fmla="*/ 2319339 h 6858002"/>
              <a:gd name="connsiteX51" fmla="*/ 6224668 w 6300250"/>
              <a:gd name="connsiteY51" fmla="*/ 2359027 h 6858002"/>
              <a:gd name="connsiteX52" fmla="*/ 6204513 w 6300250"/>
              <a:gd name="connsiteY52" fmla="*/ 2395539 h 6858002"/>
              <a:gd name="connsiteX53" fmla="*/ 6184358 w 6300250"/>
              <a:gd name="connsiteY53" fmla="*/ 2433639 h 6858002"/>
              <a:gd name="connsiteX54" fmla="*/ 6165882 w 6300250"/>
              <a:gd name="connsiteY54" fmla="*/ 2471739 h 6858002"/>
              <a:gd name="connsiteX55" fmla="*/ 6147406 w 6300250"/>
              <a:gd name="connsiteY55" fmla="*/ 2513014 h 6858002"/>
              <a:gd name="connsiteX56" fmla="*/ 6132291 w 6300250"/>
              <a:gd name="connsiteY56" fmla="*/ 2560639 h 6858002"/>
              <a:gd name="connsiteX57" fmla="*/ 6122213 w 6300250"/>
              <a:gd name="connsiteY57" fmla="*/ 2613027 h 6858002"/>
              <a:gd name="connsiteX58" fmla="*/ 6112135 w 6300250"/>
              <a:gd name="connsiteY58" fmla="*/ 2671764 h 6858002"/>
              <a:gd name="connsiteX59" fmla="*/ 6110455 w 6300250"/>
              <a:gd name="connsiteY59" fmla="*/ 2741614 h 6858002"/>
              <a:gd name="connsiteX60" fmla="*/ 6112135 w 6300250"/>
              <a:gd name="connsiteY60" fmla="*/ 2809877 h 6858002"/>
              <a:gd name="connsiteX61" fmla="*/ 6122213 w 6300250"/>
              <a:gd name="connsiteY61" fmla="*/ 2868614 h 6858002"/>
              <a:gd name="connsiteX62" fmla="*/ 6132291 w 6300250"/>
              <a:gd name="connsiteY62" fmla="*/ 2922589 h 6858002"/>
              <a:gd name="connsiteX63" fmla="*/ 6147406 w 6300250"/>
              <a:gd name="connsiteY63" fmla="*/ 2967039 h 6858002"/>
              <a:gd name="connsiteX64" fmla="*/ 6165882 w 6300250"/>
              <a:gd name="connsiteY64" fmla="*/ 3009902 h 6858002"/>
              <a:gd name="connsiteX65" fmla="*/ 6184358 w 6300250"/>
              <a:gd name="connsiteY65" fmla="*/ 3046414 h 6858002"/>
              <a:gd name="connsiteX66" fmla="*/ 6204513 w 6300250"/>
              <a:gd name="connsiteY66" fmla="*/ 3084514 h 6858002"/>
              <a:gd name="connsiteX67" fmla="*/ 6224668 w 6300250"/>
              <a:gd name="connsiteY67" fmla="*/ 3121027 h 6858002"/>
              <a:gd name="connsiteX68" fmla="*/ 6244823 w 6300250"/>
              <a:gd name="connsiteY68" fmla="*/ 3160714 h 6858002"/>
              <a:gd name="connsiteX69" fmla="*/ 6261619 w 6300250"/>
              <a:gd name="connsiteY69" fmla="*/ 3201989 h 6858002"/>
              <a:gd name="connsiteX70" fmla="*/ 6276736 w 6300250"/>
              <a:gd name="connsiteY70" fmla="*/ 3248027 h 6858002"/>
              <a:gd name="connsiteX71" fmla="*/ 6288493 w 6300250"/>
              <a:gd name="connsiteY71" fmla="*/ 3300414 h 6858002"/>
              <a:gd name="connsiteX72" fmla="*/ 6296891 w 6300250"/>
              <a:gd name="connsiteY72" fmla="*/ 3360739 h 6858002"/>
              <a:gd name="connsiteX73" fmla="*/ 6300250 w 6300250"/>
              <a:gd name="connsiteY73" fmla="*/ 3427414 h 6858002"/>
              <a:gd name="connsiteX74" fmla="*/ 6296891 w 6300250"/>
              <a:gd name="connsiteY74" fmla="*/ 3497264 h 6858002"/>
              <a:gd name="connsiteX75" fmla="*/ 6288493 w 6300250"/>
              <a:gd name="connsiteY75" fmla="*/ 3557589 h 6858002"/>
              <a:gd name="connsiteX76" fmla="*/ 6276736 w 6300250"/>
              <a:gd name="connsiteY76" fmla="*/ 3609977 h 6858002"/>
              <a:gd name="connsiteX77" fmla="*/ 6261619 w 6300250"/>
              <a:gd name="connsiteY77" fmla="*/ 3656014 h 6858002"/>
              <a:gd name="connsiteX78" fmla="*/ 6244823 w 6300250"/>
              <a:gd name="connsiteY78" fmla="*/ 3697289 h 6858002"/>
              <a:gd name="connsiteX79" fmla="*/ 6224668 w 6300250"/>
              <a:gd name="connsiteY79" fmla="*/ 3736977 h 6858002"/>
              <a:gd name="connsiteX80" fmla="*/ 6184358 w 6300250"/>
              <a:gd name="connsiteY80" fmla="*/ 3811589 h 6858002"/>
              <a:gd name="connsiteX81" fmla="*/ 6165882 w 6300250"/>
              <a:gd name="connsiteY81" fmla="*/ 3848102 h 6858002"/>
              <a:gd name="connsiteX82" fmla="*/ 6147406 w 6300250"/>
              <a:gd name="connsiteY82" fmla="*/ 3890964 h 6858002"/>
              <a:gd name="connsiteX83" fmla="*/ 6132291 w 6300250"/>
              <a:gd name="connsiteY83" fmla="*/ 3935414 h 6858002"/>
              <a:gd name="connsiteX84" fmla="*/ 6122213 w 6300250"/>
              <a:gd name="connsiteY84" fmla="*/ 3987802 h 6858002"/>
              <a:gd name="connsiteX85" fmla="*/ 6112135 w 6300250"/>
              <a:gd name="connsiteY85" fmla="*/ 4048127 h 6858002"/>
              <a:gd name="connsiteX86" fmla="*/ 6110455 w 6300250"/>
              <a:gd name="connsiteY86" fmla="*/ 4116389 h 6858002"/>
              <a:gd name="connsiteX87" fmla="*/ 6112135 w 6300250"/>
              <a:gd name="connsiteY87" fmla="*/ 4186239 h 6858002"/>
              <a:gd name="connsiteX88" fmla="*/ 6122213 w 6300250"/>
              <a:gd name="connsiteY88" fmla="*/ 4244977 h 6858002"/>
              <a:gd name="connsiteX89" fmla="*/ 6132291 w 6300250"/>
              <a:gd name="connsiteY89" fmla="*/ 4297364 h 6858002"/>
              <a:gd name="connsiteX90" fmla="*/ 6147406 w 6300250"/>
              <a:gd name="connsiteY90" fmla="*/ 4343402 h 6858002"/>
              <a:gd name="connsiteX91" fmla="*/ 6165882 w 6300250"/>
              <a:gd name="connsiteY91" fmla="*/ 4386264 h 6858002"/>
              <a:gd name="connsiteX92" fmla="*/ 6184358 w 6300250"/>
              <a:gd name="connsiteY92" fmla="*/ 4424364 h 6858002"/>
              <a:gd name="connsiteX93" fmla="*/ 6224668 w 6300250"/>
              <a:gd name="connsiteY93" fmla="*/ 4498977 h 6858002"/>
              <a:gd name="connsiteX94" fmla="*/ 6244823 w 6300250"/>
              <a:gd name="connsiteY94" fmla="*/ 4537077 h 6858002"/>
              <a:gd name="connsiteX95" fmla="*/ 6261619 w 6300250"/>
              <a:gd name="connsiteY95" fmla="*/ 4579939 h 6858002"/>
              <a:gd name="connsiteX96" fmla="*/ 6276736 w 6300250"/>
              <a:gd name="connsiteY96" fmla="*/ 4625977 h 6858002"/>
              <a:gd name="connsiteX97" fmla="*/ 6288493 w 6300250"/>
              <a:gd name="connsiteY97" fmla="*/ 4678364 h 6858002"/>
              <a:gd name="connsiteX98" fmla="*/ 6296891 w 6300250"/>
              <a:gd name="connsiteY98" fmla="*/ 4738689 h 6858002"/>
              <a:gd name="connsiteX99" fmla="*/ 6300250 w 6300250"/>
              <a:gd name="connsiteY99" fmla="*/ 4806952 h 6858002"/>
              <a:gd name="connsiteX100" fmla="*/ 6296891 w 6300250"/>
              <a:gd name="connsiteY100" fmla="*/ 4875214 h 6858002"/>
              <a:gd name="connsiteX101" fmla="*/ 6288493 w 6300250"/>
              <a:gd name="connsiteY101" fmla="*/ 4935539 h 6858002"/>
              <a:gd name="connsiteX102" fmla="*/ 6276736 w 6300250"/>
              <a:gd name="connsiteY102" fmla="*/ 4987927 h 6858002"/>
              <a:gd name="connsiteX103" fmla="*/ 6261619 w 6300250"/>
              <a:gd name="connsiteY103" fmla="*/ 5033964 h 6858002"/>
              <a:gd name="connsiteX104" fmla="*/ 6244823 w 6300250"/>
              <a:gd name="connsiteY104" fmla="*/ 5075239 h 6858002"/>
              <a:gd name="connsiteX105" fmla="*/ 6224668 w 6300250"/>
              <a:gd name="connsiteY105" fmla="*/ 5114927 h 6858002"/>
              <a:gd name="connsiteX106" fmla="*/ 6204513 w 6300250"/>
              <a:gd name="connsiteY106" fmla="*/ 5149852 h 6858002"/>
              <a:gd name="connsiteX107" fmla="*/ 6184358 w 6300250"/>
              <a:gd name="connsiteY107" fmla="*/ 5186364 h 6858002"/>
              <a:gd name="connsiteX108" fmla="*/ 6165882 w 6300250"/>
              <a:gd name="connsiteY108" fmla="*/ 5226052 h 6858002"/>
              <a:gd name="connsiteX109" fmla="*/ 6147406 w 6300250"/>
              <a:gd name="connsiteY109" fmla="*/ 5268914 h 6858002"/>
              <a:gd name="connsiteX110" fmla="*/ 6132291 w 6300250"/>
              <a:gd name="connsiteY110" fmla="*/ 5313364 h 6858002"/>
              <a:gd name="connsiteX111" fmla="*/ 6122213 w 6300250"/>
              <a:gd name="connsiteY111" fmla="*/ 5365752 h 6858002"/>
              <a:gd name="connsiteX112" fmla="*/ 6112135 w 6300250"/>
              <a:gd name="connsiteY112" fmla="*/ 5426077 h 6858002"/>
              <a:gd name="connsiteX113" fmla="*/ 6110455 w 6300250"/>
              <a:gd name="connsiteY113" fmla="*/ 5494339 h 6858002"/>
              <a:gd name="connsiteX114" fmla="*/ 6112135 w 6300250"/>
              <a:gd name="connsiteY114" fmla="*/ 5562602 h 6858002"/>
              <a:gd name="connsiteX115" fmla="*/ 6122213 w 6300250"/>
              <a:gd name="connsiteY115" fmla="*/ 5622927 h 6858002"/>
              <a:gd name="connsiteX116" fmla="*/ 6132291 w 6300250"/>
              <a:gd name="connsiteY116" fmla="*/ 5675314 h 6858002"/>
              <a:gd name="connsiteX117" fmla="*/ 6147406 w 6300250"/>
              <a:gd name="connsiteY117" fmla="*/ 5721352 h 6858002"/>
              <a:gd name="connsiteX118" fmla="*/ 6165882 w 6300250"/>
              <a:gd name="connsiteY118" fmla="*/ 5762627 h 6858002"/>
              <a:gd name="connsiteX119" fmla="*/ 6184358 w 6300250"/>
              <a:gd name="connsiteY119" fmla="*/ 5802314 h 6858002"/>
              <a:gd name="connsiteX120" fmla="*/ 6204513 w 6300250"/>
              <a:gd name="connsiteY120" fmla="*/ 5840414 h 6858002"/>
              <a:gd name="connsiteX121" fmla="*/ 6224668 w 6300250"/>
              <a:gd name="connsiteY121" fmla="*/ 5876927 h 6858002"/>
              <a:gd name="connsiteX122" fmla="*/ 6244823 w 6300250"/>
              <a:gd name="connsiteY122" fmla="*/ 5915027 h 6858002"/>
              <a:gd name="connsiteX123" fmla="*/ 6261619 w 6300250"/>
              <a:gd name="connsiteY123" fmla="*/ 5956302 h 6858002"/>
              <a:gd name="connsiteX124" fmla="*/ 6276736 w 6300250"/>
              <a:gd name="connsiteY124" fmla="*/ 6003927 h 6858002"/>
              <a:gd name="connsiteX125" fmla="*/ 6288493 w 6300250"/>
              <a:gd name="connsiteY125" fmla="*/ 6056314 h 6858002"/>
              <a:gd name="connsiteX126" fmla="*/ 6296891 w 6300250"/>
              <a:gd name="connsiteY126" fmla="*/ 6113464 h 6858002"/>
              <a:gd name="connsiteX127" fmla="*/ 6300250 w 6300250"/>
              <a:gd name="connsiteY127" fmla="*/ 6183314 h 6858002"/>
              <a:gd name="connsiteX128" fmla="*/ 6296891 w 6300250"/>
              <a:gd name="connsiteY128" fmla="*/ 6251577 h 6858002"/>
              <a:gd name="connsiteX129" fmla="*/ 6288493 w 6300250"/>
              <a:gd name="connsiteY129" fmla="*/ 6311902 h 6858002"/>
              <a:gd name="connsiteX130" fmla="*/ 6276736 w 6300250"/>
              <a:gd name="connsiteY130" fmla="*/ 6361114 h 6858002"/>
              <a:gd name="connsiteX131" fmla="*/ 6261619 w 6300250"/>
              <a:gd name="connsiteY131" fmla="*/ 6407152 h 6858002"/>
              <a:gd name="connsiteX132" fmla="*/ 6244823 w 6300250"/>
              <a:gd name="connsiteY132" fmla="*/ 6448427 h 6858002"/>
              <a:gd name="connsiteX133" fmla="*/ 6226348 w 6300250"/>
              <a:gd name="connsiteY133" fmla="*/ 6488114 h 6858002"/>
              <a:gd name="connsiteX134" fmla="*/ 6207872 w 6300250"/>
              <a:gd name="connsiteY134" fmla="*/ 6523039 h 6858002"/>
              <a:gd name="connsiteX135" fmla="*/ 6187717 w 6300250"/>
              <a:gd name="connsiteY135" fmla="*/ 6561139 h 6858002"/>
              <a:gd name="connsiteX136" fmla="*/ 6167562 w 6300250"/>
              <a:gd name="connsiteY136" fmla="*/ 6597652 h 6858002"/>
              <a:gd name="connsiteX137" fmla="*/ 6150766 w 6300250"/>
              <a:gd name="connsiteY137" fmla="*/ 6640514 h 6858002"/>
              <a:gd name="connsiteX138" fmla="*/ 6133970 w 6300250"/>
              <a:gd name="connsiteY138" fmla="*/ 6683377 h 6858002"/>
              <a:gd name="connsiteX139" fmla="*/ 6123892 w 6300250"/>
              <a:gd name="connsiteY139" fmla="*/ 6735764 h 6858002"/>
              <a:gd name="connsiteX140" fmla="*/ 6115495 w 6300250"/>
              <a:gd name="connsiteY140" fmla="*/ 6791327 h 6858002"/>
              <a:gd name="connsiteX141" fmla="*/ 6110455 w 6300250"/>
              <a:gd name="connsiteY141" fmla="*/ 6858002 h 6858002"/>
              <a:gd name="connsiteX142" fmla="*/ 3149600 w 6300250"/>
              <a:gd name="connsiteY142" fmla="*/ 6858002 h 6858002"/>
              <a:gd name="connsiteX143" fmla="*/ 2707087 w 6300250"/>
              <a:gd name="connsiteY143" fmla="*/ 6858002 h 6858002"/>
              <a:gd name="connsiteX144" fmla="*/ 0 w 6300250"/>
              <a:gd name="connsiteY144" fmla="*/ 6858002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Lst>
            <a:rect l="l" t="t" r="r" b="b"/>
            <a:pathLst>
              <a:path w="6300250" h="6858002">
                <a:moveTo>
                  <a:pt x="0" y="0"/>
                </a:moveTo>
                <a:lnTo>
                  <a:pt x="3149600" y="0"/>
                </a:lnTo>
                <a:lnTo>
                  <a:pt x="3149600" y="2"/>
                </a:lnTo>
                <a:lnTo>
                  <a:pt x="6110455" y="2"/>
                </a:lnTo>
                <a:lnTo>
                  <a:pt x="6115495" y="66677"/>
                </a:lnTo>
                <a:lnTo>
                  <a:pt x="6123892" y="122239"/>
                </a:lnTo>
                <a:lnTo>
                  <a:pt x="6133970" y="174627"/>
                </a:lnTo>
                <a:lnTo>
                  <a:pt x="6150766" y="217489"/>
                </a:lnTo>
                <a:lnTo>
                  <a:pt x="6167562" y="260352"/>
                </a:lnTo>
                <a:lnTo>
                  <a:pt x="6187717" y="296864"/>
                </a:lnTo>
                <a:lnTo>
                  <a:pt x="6207872" y="334964"/>
                </a:lnTo>
                <a:lnTo>
                  <a:pt x="6226348" y="369889"/>
                </a:lnTo>
                <a:lnTo>
                  <a:pt x="6244823" y="409577"/>
                </a:lnTo>
                <a:lnTo>
                  <a:pt x="6261619" y="450852"/>
                </a:lnTo>
                <a:lnTo>
                  <a:pt x="6276736" y="496889"/>
                </a:lnTo>
                <a:lnTo>
                  <a:pt x="6288493" y="546102"/>
                </a:lnTo>
                <a:lnTo>
                  <a:pt x="6296891" y="606427"/>
                </a:lnTo>
                <a:lnTo>
                  <a:pt x="6300250" y="673102"/>
                </a:lnTo>
                <a:lnTo>
                  <a:pt x="6296891" y="744539"/>
                </a:lnTo>
                <a:lnTo>
                  <a:pt x="6288493" y="801689"/>
                </a:lnTo>
                <a:lnTo>
                  <a:pt x="6276736" y="854077"/>
                </a:lnTo>
                <a:lnTo>
                  <a:pt x="6261619" y="901702"/>
                </a:lnTo>
                <a:lnTo>
                  <a:pt x="6244823" y="942977"/>
                </a:lnTo>
                <a:lnTo>
                  <a:pt x="6224668" y="981077"/>
                </a:lnTo>
                <a:lnTo>
                  <a:pt x="6204513" y="1017589"/>
                </a:lnTo>
                <a:lnTo>
                  <a:pt x="6184358" y="1055689"/>
                </a:lnTo>
                <a:lnTo>
                  <a:pt x="6165882" y="1095377"/>
                </a:lnTo>
                <a:lnTo>
                  <a:pt x="6147406" y="1136652"/>
                </a:lnTo>
                <a:lnTo>
                  <a:pt x="6132291" y="1182689"/>
                </a:lnTo>
                <a:lnTo>
                  <a:pt x="6122213" y="1235077"/>
                </a:lnTo>
                <a:lnTo>
                  <a:pt x="6112135" y="1295402"/>
                </a:lnTo>
                <a:lnTo>
                  <a:pt x="6110455" y="1363664"/>
                </a:lnTo>
                <a:lnTo>
                  <a:pt x="6112135" y="1431927"/>
                </a:lnTo>
                <a:lnTo>
                  <a:pt x="6122213" y="1492252"/>
                </a:lnTo>
                <a:lnTo>
                  <a:pt x="6132291" y="1544639"/>
                </a:lnTo>
                <a:lnTo>
                  <a:pt x="6147406" y="1589089"/>
                </a:lnTo>
                <a:lnTo>
                  <a:pt x="6165882" y="1631952"/>
                </a:lnTo>
                <a:lnTo>
                  <a:pt x="6184358" y="1671639"/>
                </a:lnTo>
                <a:lnTo>
                  <a:pt x="6204513" y="1708152"/>
                </a:lnTo>
                <a:lnTo>
                  <a:pt x="6224668" y="1743077"/>
                </a:lnTo>
                <a:lnTo>
                  <a:pt x="6244823" y="1782764"/>
                </a:lnTo>
                <a:lnTo>
                  <a:pt x="6261619" y="1824039"/>
                </a:lnTo>
                <a:lnTo>
                  <a:pt x="6276736" y="1870077"/>
                </a:lnTo>
                <a:lnTo>
                  <a:pt x="6288493" y="1922464"/>
                </a:lnTo>
                <a:lnTo>
                  <a:pt x="6296891" y="1982789"/>
                </a:lnTo>
                <a:lnTo>
                  <a:pt x="6300250" y="2051052"/>
                </a:lnTo>
                <a:lnTo>
                  <a:pt x="6296891" y="2119314"/>
                </a:lnTo>
                <a:lnTo>
                  <a:pt x="6288493" y="2179639"/>
                </a:lnTo>
                <a:lnTo>
                  <a:pt x="6276736" y="2232027"/>
                </a:lnTo>
                <a:lnTo>
                  <a:pt x="6261619" y="2278064"/>
                </a:lnTo>
                <a:lnTo>
                  <a:pt x="6244823" y="2319339"/>
                </a:lnTo>
                <a:lnTo>
                  <a:pt x="6224668" y="2359027"/>
                </a:lnTo>
                <a:lnTo>
                  <a:pt x="6204513" y="2395539"/>
                </a:lnTo>
                <a:lnTo>
                  <a:pt x="6184358" y="2433639"/>
                </a:lnTo>
                <a:lnTo>
                  <a:pt x="6165882" y="2471739"/>
                </a:lnTo>
                <a:lnTo>
                  <a:pt x="6147406" y="2513014"/>
                </a:lnTo>
                <a:lnTo>
                  <a:pt x="6132291" y="2560639"/>
                </a:lnTo>
                <a:lnTo>
                  <a:pt x="6122213" y="2613027"/>
                </a:lnTo>
                <a:lnTo>
                  <a:pt x="6112135" y="2671764"/>
                </a:lnTo>
                <a:lnTo>
                  <a:pt x="6110455" y="2741614"/>
                </a:lnTo>
                <a:lnTo>
                  <a:pt x="6112135" y="2809877"/>
                </a:lnTo>
                <a:lnTo>
                  <a:pt x="6122213" y="2868614"/>
                </a:lnTo>
                <a:lnTo>
                  <a:pt x="6132291" y="2922589"/>
                </a:lnTo>
                <a:lnTo>
                  <a:pt x="6147406" y="2967039"/>
                </a:lnTo>
                <a:lnTo>
                  <a:pt x="6165882" y="3009902"/>
                </a:lnTo>
                <a:lnTo>
                  <a:pt x="6184358" y="3046414"/>
                </a:lnTo>
                <a:lnTo>
                  <a:pt x="6204513" y="3084514"/>
                </a:lnTo>
                <a:lnTo>
                  <a:pt x="6224668" y="3121027"/>
                </a:lnTo>
                <a:lnTo>
                  <a:pt x="6244823" y="3160714"/>
                </a:lnTo>
                <a:lnTo>
                  <a:pt x="6261619" y="3201989"/>
                </a:lnTo>
                <a:lnTo>
                  <a:pt x="6276736" y="3248027"/>
                </a:lnTo>
                <a:lnTo>
                  <a:pt x="6288493" y="3300414"/>
                </a:lnTo>
                <a:lnTo>
                  <a:pt x="6296891" y="3360739"/>
                </a:lnTo>
                <a:lnTo>
                  <a:pt x="6300250" y="3427414"/>
                </a:lnTo>
                <a:lnTo>
                  <a:pt x="6296891" y="3497264"/>
                </a:lnTo>
                <a:lnTo>
                  <a:pt x="6288493" y="3557589"/>
                </a:lnTo>
                <a:lnTo>
                  <a:pt x="6276736" y="3609977"/>
                </a:lnTo>
                <a:lnTo>
                  <a:pt x="6261619" y="3656014"/>
                </a:lnTo>
                <a:lnTo>
                  <a:pt x="6244823" y="3697289"/>
                </a:lnTo>
                <a:lnTo>
                  <a:pt x="6224668" y="3736977"/>
                </a:lnTo>
                <a:lnTo>
                  <a:pt x="6184358" y="3811589"/>
                </a:lnTo>
                <a:lnTo>
                  <a:pt x="6165882" y="3848102"/>
                </a:lnTo>
                <a:lnTo>
                  <a:pt x="6147406" y="3890964"/>
                </a:lnTo>
                <a:lnTo>
                  <a:pt x="6132291" y="3935414"/>
                </a:lnTo>
                <a:lnTo>
                  <a:pt x="6122213" y="3987802"/>
                </a:lnTo>
                <a:lnTo>
                  <a:pt x="6112135" y="4048127"/>
                </a:lnTo>
                <a:lnTo>
                  <a:pt x="6110455" y="4116389"/>
                </a:lnTo>
                <a:lnTo>
                  <a:pt x="6112135" y="4186239"/>
                </a:lnTo>
                <a:lnTo>
                  <a:pt x="6122213" y="4244977"/>
                </a:lnTo>
                <a:lnTo>
                  <a:pt x="6132291" y="4297364"/>
                </a:lnTo>
                <a:lnTo>
                  <a:pt x="6147406" y="4343402"/>
                </a:lnTo>
                <a:lnTo>
                  <a:pt x="6165882" y="4386264"/>
                </a:lnTo>
                <a:lnTo>
                  <a:pt x="6184358" y="4424364"/>
                </a:lnTo>
                <a:lnTo>
                  <a:pt x="6224668" y="4498977"/>
                </a:lnTo>
                <a:lnTo>
                  <a:pt x="6244823" y="4537077"/>
                </a:lnTo>
                <a:lnTo>
                  <a:pt x="6261619" y="4579939"/>
                </a:lnTo>
                <a:lnTo>
                  <a:pt x="6276736" y="4625977"/>
                </a:lnTo>
                <a:lnTo>
                  <a:pt x="6288493" y="4678364"/>
                </a:lnTo>
                <a:lnTo>
                  <a:pt x="6296891" y="4738689"/>
                </a:lnTo>
                <a:lnTo>
                  <a:pt x="6300250" y="4806952"/>
                </a:lnTo>
                <a:lnTo>
                  <a:pt x="6296891" y="4875214"/>
                </a:lnTo>
                <a:lnTo>
                  <a:pt x="6288493" y="4935539"/>
                </a:lnTo>
                <a:lnTo>
                  <a:pt x="6276736" y="4987927"/>
                </a:lnTo>
                <a:lnTo>
                  <a:pt x="6261619" y="5033964"/>
                </a:lnTo>
                <a:lnTo>
                  <a:pt x="6244823" y="5075239"/>
                </a:lnTo>
                <a:lnTo>
                  <a:pt x="6224668" y="5114927"/>
                </a:lnTo>
                <a:lnTo>
                  <a:pt x="6204513" y="5149852"/>
                </a:lnTo>
                <a:lnTo>
                  <a:pt x="6184358" y="5186364"/>
                </a:lnTo>
                <a:lnTo>
                  <a:pt x="6165882" y="5226052"/>
                </a:lnTo>
                <a:lnTo>
                  <a:pt x="6147406" y="5268914"/>
                </a:lnTo>
                <a:lnTo>
                  <a:pt x="6132291" y="5313364"/>
                </a:lnTo>
                <a:lnTo>
                  <a:pt x="6122213" y="5365752"/>
                </a:lnTo>
                <a:lnTo>
                  <a:pt x="6112135" y="5426077"/>
                </a:lnTo>
                <a:lnTo>
                  <a:pt x="6110455" y="5494339"/>
                </a:lnTo>
                <a:lnTo>
                  <a:pt x="6112135" y="5562602"/>
                </a:lnTo>
                <a:lnTo>
                  <a:pt x="6122213" y="5622927"/>
                </a:lnTo>
                <a:lnTo>
                  <a:pt x="6132291" y="5675314"/>
                </a:lnTo>
                <a:lnTo>
                  <a:pt x="6147406" y="5721352"/>
                </a:lnTo>
                <a:lnTo>
                  <a:pt x="6165882" y="5762627"/>
                </a:lnTo>
                <a:lnTo>
                  <a:pt x="6184358" y="5802314"/>
                </a:lnTo>
                <a:lnTo>
                  <a:pt x="6204513" y="5840414"/>
                </a:lnTo>
                <a:lnTo>
                  <a:pt x="6224668" y="5876927"/>
                </a:lnTo>
                <a:lnTo>
                  <a:pt x="6244823" y="5915027"/>
                </a:lnTo>
                <a:lnTo>
                  <a:pt x="6261619" y="5956302"/>
                </a:lnTo>
                <a:lnTo>
                  <a:pt x="6276736" y="6003927"/>
                </a:lnTo>
                <a:lnTo>
                  <a:pt x="6288493" y="6056314"/>
                </a:lnTo>
                <a:lnTo>
                  <a:pt x="6296891" y="6113464"/>
                </a:lnTo>
                <a:lnTo>
                  <a:pt x="6300250" y="6183314"/>
                </a:lnTo>
                <a:lnTo>
                  <a:pt x="6296891" y="6251577"/>
                </a:lnTo>
                <a:lnTo>
                  <a:pt x="6288493" y="6311902"/>
                </a:lnTo>
                <a:lnTo>
                  <a:pt x="6276736" y="6361114"/>
                </a:lnTo>
                <a:lnTo>
                  <a:pt x="6261619" y="6407152"/>
                </a:lnTo>
                <a:lnTo>
                  <a:pt x="6244823" y="6448427"/>
                </a:lnTo>
                <a:lnTo>
                  <a:pt x="6226348" y="6488114"/>
                </a:lnTo>
                <a:lnTo>
                  <a:pt x="6207872" y="6523039"/>
                </a:lnTo>
                <a:lnTo>
                  <a:pt x="6187717" y="6561139"/>
                </a:lnTo>
                <a:lnTo>
                  <a:pt x="6167562" y="6597652"/>
                </a:lnTo>
                <a:lnTo>
                  <a:pt x="6150766" y="6640514"/>
                </a:lnTo>
                <a:lnTo>
                  <a:pt x="6133970" y="6683377"/>
                </a:lnTo>
                <a:lnTo>
                  <a:pt x="6123892" y="6735764"/>
                </a:lnTo>
                <a:lnTo>
                  <a:pt x="6115495" y="6791327"/>
                </a:lnTo>
                <a:lnTo>
                  <a:pt x="6110455" y="6858002"/>
                </a:lnTo>
                <a:lnTo>
                  <a:pt x="3149600" y="6858002"/>
                </a:lnTo>
                <a:lnTo>
                  <a:pt x="2707087" y="6858002"/>
                </a:lnTo>
                <a:lnTo>
                  <a:pt x="0" y="6858002"/>
                </a:lnTo>
                <a:close/>
              </a:path>
            </a:pathLst>
          </a:custGeom>
          <a:solidFill>
            <a:schemeClr val="accent1"/>
          </a:solidFill>
          <a:ln w="0">
            <a:noFill/>
            <a:prstDash val="solid"/>
            <a:round/>
            <a:headEnd/>
            <a:tailEnd/>
          </a:ln>
        </p:spPr>
      </p:sp>
      <p:sp>
        <p:nvSpPr>
          <p:cNvPr id="16" name="Rectangle 11">
            <a:extLst>
              <a:ext uri="{FF2B5EF4-FFF2-40B4-BE49-F238E27FC236}">
                <a16:creationId xmlns:a16="http://schemas.microsoft.com/office/drawing/2014/main" id="{E3B475C6-1445-41C7-9360-49FD7C1C1E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AA3CBCD6-EAB9-4FFF-BE53-A44BD32B7288}"/>
              </a:ext>
            </a:extLst>
          </p:cNvPr>
          <p:cNvSpPr>
            <a:spLocks noGrp="1"/>
          </p:cNvSpPr>
          <p:nvPr>
            <p:ph type="title"/>
          </p:nvPr>
        </p:nvSpPr>
        <p:spPr>
          <a:xfrm>
            <a:off x="500514" y="1162940"/>
            <a:ext cx="4947017" cy="4532120"/>
          </a:xfrm>
        </p:spPr>
        <p:txBody>
          <a:bodyPr anchor="ctr">
            <a:normAutofit/>
          </a:bodyPr>
          <a:lstStyle/>
          <a:p>
            <a:r>
              <a:rPr lang="en-US" sz="4000" b="1" dirty="0">
                <a:solidFill>
                  <a:srgbClr val="2A1A00"/>
                </a:solidFill>
                <a:latin typeface="Bookman Old Style" panose="02050604050505020204" pitchFamily="18" charset="0"/>
              </a:rPr>
              <a:t>    Objective</a:t>
            </a:r>
          </a:p>
        </p:txBody>
      </p:sp>
      <p:pic>
        <p:nvPicPr>
          <p:cNvPr id="4" name="Picture 2">
            <a:extLst>
              <a:ext uri="{FF2B5EF4-FFF2-40B4-BE49-F238E27FC236}">
                <a16:creationId xmlns:a16="http://schemas.microsoft.com/office/drawing/2014/main" id="{059765AB-DAC7-F5DD-EED8-F10AB952A4FA}"/>
              </a:ext>
            </a:extLst>
          </p:cNvPr>
          <p:cNvPicPr>
            <a:picLocks noChangeAspect="1" noChangeArrowheads="1"/>
          </p:cNvPicPr>
          <p:nvPr/>
        </p:nvPicPr>
        <p:blipFill>
          <a:blip r:embed="rId2" cstate="print"/>
          <a:srcRect/>
          <a:stretch>
            <a:fillRect/>
          </a:stretch>
        </p:blipFill>
        <p:spPr bwMode="auto">
          <a:xfrm>
            <a:off x="55432" y="31816"/>
            <a:ext cx="1753002" cy="627596"/>
          </a:xfrm>
          <a:prstGeom prst="rect">
            <a:avLst/>
          </a:prstGeom>
          <a:noFill/>
          <a:ln w="9525">
            <a:noFill/>
            <a:miter lim="800000"/>
            <a:headEnd/>
            <a:tailEnd/>
          </a:ln>
        </p:spPr>
      </p:pic>
      <p:sp>
        <p:nvSpPr>
          <p:cNvPr id="7" name="TextBox 6">
            <a:extLst>
              <a:ext uri="{FF2B5EF4-FFF2-40B4-BE49-F238E27FC236}">
                <a16:creationId xmlns:a16="http://schemas.microsoft.com/office/drawing/2014/main" id="{4A06C09E-FF4B-05DC-1477-5AD2719837F9}"/>
              </a:ext>
            </a:extLst>
          </p:cNvPr>
          <p:cNvSpPr txBox="1"/>
          <p:nvPr/>
        </p:nvSpPr>
        <p:spPr>
          <a:xfrm>
            <a:off x="7584707" y="1925053"/>
            <a:ext cx="45719" cy="369332"/>
          </a:xfrm>
          <a:prstGeom prst="rect">
            <a:avLst/>
          </a:prstGeom>
          <a:noFill/>
        </p:spPr>
        <p:txBody>
          <a:bodyPr wrap="square" rtlCol="0">
            <a:spAutoFit/>
          </a:bodyPr>
          <a:lstStyle/>
          <a:p>
            <a:endParaRPr lang="en-US" dirty="0"/>
          </a:p>
        </p:txBody>
      </p:sp>
      <p:sp>
        <p:nvSpPr>
          <p:cNvPr id="8" name="TextBox 7">
            <a:extLst>
              <a:ext uri="{FF2B5EF4-FFF2-40B4-BE49-F238E27FC236}">
                <a16:creationId xmlns:a16="http://schemas.microsoft.com/office/drawing/2014/main" id="{59D09C5A-F766-BC32-AA58-468A50701B37}"/>
              </a:ext>
            </a:extLst>
          </p:cNvPr>
          <p:cNvSpPr txBox="1"/>
          <p:nvPr/>
        </p:nvSpPr>
        <p:spPr>
          <a:xfrm>
            <a:off x="6655724" y="1707762"/>
            <a:ext cx="5180799" cy="3200876"/>
          </a:xfrm>
          <a:prstGeom prst="rect">
            <a:avLst/>
          </a:prstGeom>
          <a:noFill/>
        </p:spPr>
        <p:txBody>
          <a:bodyPr wrap="square" rtlCol="0">
            <a:spAutoFit/>
          </a:bodyPr>
          <a:lstStyle/>
          <a:p>
            <a:r>
              <a:rPr lang="en-US" sz="2000" dirty="0"/>
              <a:t>1)</a:t>
            </a:r>
            <a:r>
              <a:rPr lang="en-US" dirty="0">
                <a:latin typeface="Book Antiqua" panose="02040602050305030304" pitchFamily="18" charset="0"/>
              </a:rPr>
              <a:t>To know how BURGER SINGH gained its reach.</a:t>
            </a:r>
          </a:p>
          <a:p>
            <a:br>
              <a:rPr lang="en-US" dirty="0">
                <a:latin typeface="Book Antiqua" panose="02040602050305030304" pitchFamily="18" charset="0"/>
              </a:rPr>
            </a:br>
            <a:r>
              <a:rPr lang="en-US" dirty="0">
                <a:latin typeface="Book Antiqua" panose="02040602050305030304" pitchFamily="18" charset="0"/>
              </a:rPr>
              <a:t>2) Knowing about consumer reaction to the new food chain.</a:t>
            </a:r>
          </a:p>
          <a:p>
            <a:br>
              <a:rPr lang="en-US" dirty="0">
                <a:latin typeface="Book Antiqua" panose="02040602050305030304" pitchFamily="18" charset="0"/>
              </a:rPr>
            </a:br>
            <a:r>
              <a:rPr lang="en-US" dirty="0">
                <a:latin typeface="Book Antiqua" panose="02040602050305030304" pitchFamily="18" charset="0"/>
              </a:rPr>
              <a:t>3) To know about the marketing mix and pricing.</a:t>
            </a:r>
          </a:p>
          <a:p>
            <a:br>
              <a:rPr lang="en-US" dirty="0">
                <a:latin typeface="Book Antiqua" panose="02040602050305030304" pitchFamily="18" charset="0"/>
              </a:rPr>
            </a:br>
            <a:r>
              <a:rPr lang="en-US" dirty="0">
                <a:latin typeface="Book Antiqua" panose="02040602050305030304" pitchFamily="18" charset="0"/>
              </a:rPr>
              <a:t>4) Knowledge about the advertising strategy.</a:t>
            </a:r>
          </a:p>
          <a:p>
            <a:br>
              <a:rPr lang="en-US" dirty="0">
                <a:latin typeface="Book Antiqua" panose="02040602050305030304" pitchFamily="18" charset="0"/>
              </a:rPr>
            </a:br>
            <a:r>
              <a:rPr lang="en-US" dirty="0">
                <a:latin typeface="Book Antiqua" panose="02040602050305030304" pitchFamily="18" charset="0"/>
              </a:rPr>
              <a:t>5) Knowledge about the competition</a:t>
            </a:r>
            <a:r>
              <a:rPr lang="en-US" sz="2000" dirty="0"/>
              <a:t>.</a:t>
            </a:r>
            <a:endParaRPr lang="en-US" sz="2000" dirty="0">
              <a:latin typeface="Book Antiqua" panose="02040602050305030304" pitchFamily="18" charset="0"/>
            </a:endParaRPr>
          </a:p>
        </p:txBody>
      </p:sp>
    </p:spTree>
    <p:extLst>
      <p:ext uri="{BB962C8B-B14F-4D97-AF65-F5344CB8AC3E}">
        <p14:creationId xmlns:p14="http://schemas.microsoft.com/office/powerpoint/2010/main" val="225716336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538A2D35-5256-4EF6-D0AD-1C88F874C663}"/>
              </a:ext>
            </a:extLst>
          </p:cNvPr>
          <p:cNvSpPr txBox="1">
            <a:spLocks/>
          </p:cNvSpPr>
          <p:nvPr/>
        </p:nvSpPr>
        <p:spPr>
          <a:xfrm>
            <a:off x="1498111" y="246541"/>
            <a:ext cx="10058400" cy="157311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a:lstStyle>
          <a:p>
            <a:pPr algn="r"/>
            <a:r>
              <a:rPr lang="en-IN" sz="4000">
                <a:solidFill>
                  <a:schemeClr val="tx1"/>
                </a:solidFill>
              </a:rPr>
              <a:t>         </a:t>
            </a:r>
            <a:r>
              <a:rPr lang="en-IN" sz="4000" spc="300">
                <a:solidFill>
                  <a:schemeClr val="tx1"/>
                </a:solidFill>
                <a:latin typeface="Freestyle Script" panose="030804020302050B0404" pitchFamily="66" charset="0"/>
              </a:rPr>
              <a:t>RESEARCH METHODOLOGY,</a:t>
            </a:r>
            <a:br>
              <a:rPr lang="en-IN" sz="4000" spc="300">
                <a:solidFill>
                  <a:schemeClr val="tx1"/>
                </a:solidFill>
                <a:latin typeface="Freestyle Script" panose="030804020302050B0404" pitchFamily="66" charset="0"/>
              </a:rPr>
            </a:br>
            <a:r>
              <a:rPr lang="en-IN" sz="4000" spc="300">
                <a:solidFill>
                  <a:schemeClr val="tx1"/>
                </a:solidFill>
                <a:latin typeface="Freestyle Script" panose="030804020302050B0404" pitchFamily="66" charset="0"/>
              </a:rPr>
              <a:t> DATA TOOLS AND limitations</a:t>
            </a:r>
            <a:endParaRPr lang="en-IN" sz="4000" spc="300" dirty="0">
              <a:solidFill>
                <a:schemeClr val="tx1"/>
              </a:solidFill>
              <a:latin typeface="Freestyle Script" panose="030804020302050B0404" pitchFamily="66" charset="0"/>
            </a:endParaRPr>
          </a:p>
        </p:txBody>
      </p:sp>
      <p:sp>
        <p:nvSpPr>
          <p:cNvPr id="6" name="Content Placeholder 2">
            <a:extLst>
              <a:ext uri="{FF2B5EF4-FFF2-40B4-BE49-F238E27FC236}">
                <a16:creationId xmlns:a16="http://schemas.microsoft.com/office/drawing/2014/main" id="{460FD2AB-3490-DADC-323D-669874D0C7DC}"/>
              </a:ext>
            </a:extLst>
          </p:cNvPr>
          <p:cNvSpPr txBox="1">
            <a:spLocks/>
          </p:cNvSpPr>
          <p:nvPr/>
        </p:nvSpPr>
        <p:spPr>
          <a:xfrm>
            <a:off x="1268585" y="2074994"/>
            <a:ext cx="4754880" cy="397764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a:lstStyle>
          <a:p>
            <a:r>
              <a:rPr lang="en-IN" dirty="0">
                <a:solidFill>
                  <a:schemeClr val="tx1"/>
                </a:solidFill>
              </a:rPr>
              <a:t>Research methodology </a:t>
            </a:r>
          </a:p>
          <a:p>
            <a:r>
              <a:rPr lang="en-IN" dirty="0">
                <a:solidFill>
                  <a:schemeClr val="tx1"/>
                </a:solidFill>
              </a:rPr>
              <a:t>Data collection methods:-</a:t>
            </a:r>
          </a:p>
          <a:p>
            <a:pPr marL="0" indent="0">
              <a:buFont typeface="Arial" panose="020B0604020202020204" pitchFamily="34" charset="0"/>
              <a:buNone/>
            </a:pPr>
            <a:r>
              <a:rPr lang="en-IN" dirty="0">
                <a:solidFill>
                  <a:schemeClr val="tx1"/>
                </a:solidFill>
              </a:rPr>
              <a:t>                        sources </a:t>
            </a:r>
          </a:p>
          <a:p>
            <a:pPr marL="0" indent="0">
              <a:buFont typeface="Arial" panose="020B0604020202020204" pitchFamily="34" charset="0"/>
              <a:buNone/>
            </a:pPr>
            <a:r>
              <a:rPr lang="en-IN" dirty="0">
                <a:solidFill>
                  <a:schemeClr val="tx1"/>
                </a:solidFill>
              </a:rPr>
              <a:t>             </a:t>
            </a:r>
          </a:p>
          <a:p>
            <a:pPr marL="0" indent="0">
              <a:buFont typeface="Arial" panose="020B0604020202020204" pitchFamily="34" charset="0"/>
              <a:buNone/>
            </a:pPr>
            <a:r>
              <a:rPr lang="en-IN" dirty="0">
                <a:solidFill>
                  <a:schemeClr val="tx1"/>
                </a:solidFill>
              </a:rPr>
              <a:t>Primary                                Secondary </a:t>
            </a:r>
          </a:p>
          <a:p>
            <a:pPr marL="0" indent="0">
              <a:buFont typeface="Arial" panose="020B0604020202020204" pitchFamily="34" charset="0"/>
              <a:buNone/>
            </a:pPr>
            <a:r>
              <a:rPr lang="en-IN" sz="1400" dirty="0">
                <a:solidFill>
                  <a:schemeClr val="tx1"/>
                </a:solidFill>
              </a:rPr>
              <a:t>GOOGLE  FORMS                                    ONLINE        .                      .                                                         LITERATURE REVIEW </a:t>
            </a:r>
          </a:p>
          <a:p>
            <a:pPr marL="0" indent="0">
              <a:buFont typeface="Arial" panose="020B0604020202020204" pitchFamily="34" charset="0"/>
              <a:buNone/>
            </a:pPr>
            <a:r>
              <a:rPr lang="en-IN" sz="1400" dirty="0">
                <a:solidFill>
                  <a:schemeClr val="tx1"/>
                </a:solidFill>
              </a:rPr>
              <a:t>{QUESTIONNARIES)  </a:t>
            </a:r>
          </a:p>
        </p:txBody>
      </p:sp>
      <p:sp>
        <p:nvSpPr>
          <p:cNvPr id="7" name="Content Placeholder 3">
            <a:extLst>
              <a:ext uri="{FF2B5EF4-FFF2-40B4-BE49-F238E27FC236}">
                <a16:creationId xmlns:a16="http://schemas.microsoft.com/office/drawing/2014/main" id="{BF7CD638-4C98-D322-7991-9357FD4618DC}"/>
              </a:ext>
            </a:extLst>
          </p:cNvPr>
          <p:cNvSpPr txBox="1">
            <a:spLocks/>
          </p:cNvSpPr>
          <p:nvPr/>
        </p:nvSpPr>
        <p:spPr>
          <a:xfrm>
            <a:off x="6527311" y="1819656"/>
            <a:ext cx="4754880" cy="3977640"/>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a:lstStyle>
          <a:p>
            <a:pPr marR="635" lvl="1" indent="0" algn="just">
              <a:lnSpc>
                <a:spcPct val="150000"/>
              </a:lnSpc>
              <a:spcAft>
                <a:spcPts val="605"/>
              </a:spcAft>
              <a:buSzPts val="1200"/>
              <a:buFont typeface="Gill Sans MT" panose="020B0502020104020203" pitchFamily="34" charset="0"/>
              <a:buNone/>
              <a:tabLst>
                <a:tab pos="5786755" algn="r"/>
              </a:tabLst>
            </a:pPr>
            <a:r>
              <a:rPr lang="en-US" sz="1600" b="1" dirty="0">
                <a:solidFill>
                  <a:schemeClr val="tx1"/>
                </a:solidFill>
                <a:latin typeface="Times New Roman" panose="02020603050405020304" pitchFamily="18" charset="0"/>
                <a:ea typeface="Times New Roman" panose="02020603050405020304" pitchFamily="18" charset="0"/>
              </a:rPr>
              <a:t>Limitation</a:t>
            </a:r>
            <a:endParaRPr lang="en-IN" sz="1600" b="1" dirty="0">
              <a:solidFill>
                <a:schemeClr val="tx1"/>
              </a:solidFill>
              <a:latin typeface="Times New Roman" panose="02020603050405020304" pitchFamily="18" charset="0"/>
              <a:ea typeface="Times New Roman" panose="02020603050405020304" pitchFamily="18" charset="0"/>
            </a:endParaRPr>
          </a:p>
          <a:p>
            <a:pPr marL="857250" marR="635" lvl="1" indent="-400050" algn="just">
              <a:lnSpc>
                <a:spcPct val="150000"/>
              </a:lnSpc>
              <a:spcAft>
                <a:spcPts val="605"/>
              </a:spcAft>
              <a:buClr>
                <a:schemeClr val="bg1">
                  <a:lumMod val="95000"/>
                  <a:lumOff val="5000"/>
                </a:schemeClr>
              </a:buClr>
              <a:buSzPts val="1200"/>
              <a:buFont typeface="+mj-lt"/>
              <a:buAutoNum type="romanLcPeriod"/>
              <a:tabLst>
                <a:tab pos="5786755" algn="r"/>
              </a:tabLst>
            </a:pPr>
            <a:r>
              <a:rPr lang="en-US" dirty="0">
                <a:solidFill>
                  <a:schemeClr val="tx1"/>
                </a:solidFill>
                <a:latin typeface="Times New Roman" panose="02020603050405020304" pitchFamily="18" charset="0"/>
                <a:ea typeface="Times New Roman" panose="02020603050405020304" pitchFamily="18" charset="0"/>
              </a:rPr>
              <a:t>Limited access to data.</a:t>
            </a:r>
            <a:endParaRPr lang="en-IN" dirty="0">
              <a:solidFill>
                <a:schemeClr val="tx1"/>
              </a:solidFill>
              <a:latin typeface="Times New Roman" panose="02020603050405020304" pitchFamily="18" charset="0"/>
              <a:ea typeface="Times New Roman" panose="02020603050405020304" pitchFamily="18" charset="0"/>
            </a:endParaRPr>
          </a:p>
          <a:p>
            <a:pPr marL="857250" marR="635" lvl="1" indent="-400050" algn="just">
              <a:lnSpc>
                <a:spcPct val="150000"/>
              </a:lnSpc>
              <a:spcAft>
                <a:spcPts val="605"/>
              </a:spcAft>
              <a:buClr>
                <a:schemeClr val="bg1">
                  <a:lumMod val="95000"/>
                  <a:lumOff val="5000"/>
                </a:schemeClr>
              </a:buClr>
              <a:buSzPts val="1200"/>
              <a:buFont typeface="+mj-lt"/>
              <a:buAutoNum type="romanLcPeriod"/>
              <a:tabLst>
                <a:tab pos="5786755" algn="r"/>
              </a:tabLst>
            </a:pPr>
            <a:r>
              <a:rPr lang="en-US" dirty="0">
                <a:solidFill>
                  <a:schemeClr val="tx1"/>
                </a:solidFill>
                <a:latin typeface="Times New Roman" panose="02020603050405020304" pitchFamily="18" charset="0"/>
                <a:ea typeface="Times New Roman" panose="02020603050405020304" pitchFamily="18" charset="0"/>
              </a:rPr>
              <a:t>Lack of previous research study </a:t>
            </a:r>
            <a:endParaRPr lang="en-IN" dirty="0">
              <a:solidFill>
                <a:schemeClr val="tx1"/>
              </a:solidFill>
              <a:latin typeface="Times New Roman" panose="02020603050405020304" pitchFamily="18" charset="0"/>
              <a:ea typeface="Times New Roman" panose="02020603050405020304" pitchFamily="18" charset="0"/>
            </a:endParaRPr>
          </a:p>
          <a:p>
            <a:pPr marL="857250" marR="635" lvl="1" indent="-400050" algn="just">
              <a:lnSpc>
                <a:spcPct val="150000"/>
              </a:lnSpc>
              <a:spcAft>
                <a:spcPts val="605"/>
              </a:spcAft>
              <a:buClr>
                <a:schemeClr val="bg1">
                  <a:lumMod val="95000"/>
                  <a:lumOff val="5000"/>
                </a:schemeClr>
              </a:buClr>
              <a:buSzPts val="1200"/>
              <a:buFont typeface="+mj-lt"/>
              <a:buAutoNum type="romanLcPeriod"/>
              <a:tabLst>
                <a:tab pos="5786755" algn="r"/>
              </a:tabLst>
            </a:pPr>
            <a:r>
              <a:rPr lang="en-US" dirty="0">
                <a:solidFill>
                  <a:schemeClr val="tx1"/>
                </a:solidFill>
                <a:latin typeface="Times New Roman" panose="02020603050405020304" pitchFamily="18" charset="0"/>
                <a:ea typeface="Times New Roman" panose="02020603050405020304" pitchFamily="18" charset="0"/>
              </a:rPr>
              <a:t>The data we grabbed from the previous research paper was not updated as per research scenario.</a:t>
            </a:r>
            <a:endParaRPr lang="en-IN" dirty="0">
              <a:solidFill>
                <a:schemeClr val="tx1"/>
              </a:solidFill>
              <a:latin typeface="Times New Roman" panose="02020603050405020304" pitchFamily="18" charset="0"/>
              <a:ea typeface="Times New Roman" panose="02020603050405020304" pitchFamily="18" charset="0"/>
            </a:endParaRPr>
          </a:p>
          <a:p>
            <a:pPr marL="857250" marR="635" lvl="1" indent="-400050" algn="just">
              <a:lnSpc>
                <a:spcPct val="150000"/>
              </a:lnSpc>
              <a:spcAft>
                <a:spcPts val="605"/>
              </a:spcAft>
              <a:buClr>
                <a:schemeClr val="bg1">
                  <a:lumMod val="95000"/>
                  <a:lumOff val="5000"/>
                </a:schemeClr>
              </a:buClr>
              <a:buSzPts val="1200"/>
              <a:buFont typeface="+mj-lt"/>
              <a:buAutoNum type="romanLcPeriod"/>
              <a:tabLst>
                <a:tab pos="5786755" algn="r"/>
              </a:tabLst>
            </a:pPr>
            <a:r>
              <a:rPr lang="en-US" dirty="0">
                <a:solidFill>
                  <a:schemeClr val="tx1"/>
                </a:solidFill>
                <a:latin typeface="Times New Roman" panose="02020603050405020304" pitchFamily="18" charset="0"/>
                <a:ea typeface="Times New Roman" panose="02020603050405020304" pitchFamily="18" charset="0"/>
              </a:rPr>
              <a:t>Sample size depends on the nature of the research problem.</a:t>
            </a:r>
            <a:endParaRPr lang="en-IN" dirty="0">
              <a:solidFill>
                <a:schemeClr val="tx1"/>
              </a:solidFill>
            </a:endParaRPr>
          </a:p>
        </p:txBody>
      </p:sp>
      <p:cxnSp>
        <p:nvCxnSpPr>
          <p:cNvPr id="8" name="Straight Arrow Connector 7">
            <a:extLst>
              <a:ext uri="{FF2B5EF4-FFF2-40B4-BE49-F238E27FC236}">
                <a16:creationId xmlns:a16="http://schemas.microsoft.com/office/drawing/2014/main" id="{7ABE0D0F-FEE4-43AE-F82A-559B32FDE0F8}"/>
              </a:ext>
            </a:extLst>
          </p:cNvPr>
          <p:cNvCxnSpPr>
            <a:cxnSpLocks/>
          </p:cNvCxnSpPr>
          <p:nvPr/>
        </p:nvCxnSpPr>
        <p:spPr>
          <a:xfrm flipH="1">
            <a:off x="2277525" y="3401287"/>
            <a:ext cx="535124" cy="46009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1AB86469-CE81-4461-E730-CFDF3CE6C256}"/>
              </a:ext>
            </a:extLst>
          </p:cNvPr>
          <p:cNvCxnSpPr>
            <a:cxnSpLocks/>
          </p:cNvCxnSpPr>
          <p:nvPr/>
        </p:nvCxnSpPr>
        <p:spPr>
          <a:xfrm>
            <a:off x="3869043" y="3371600"/>
            <a:ext cx="446036" cy="46009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10" name="Picture 9">
            <a:extLst>
              <a:ext uri="{FF2B5EF4-FFF2-40B4-BE49-F238E27FC236}">
                <a16:creationId xmlns:a16="http://schemas.microsoft.com/office/drawing/2014/main" id="{7468CA05-C988-88D6-CD96-96B54E16C48C}"/>
              </a:ext>
            </a:extLst>
          </p:cNvPr>
          <p:cNvPicPr>
            <a:picLocks noChangeAspect="1"/>
          </p:cNvPicPr>
          <p:nvPr/>
        </p:nvPicPr>
        <p:blipFill rotWithShape="1">
          <a:blip r:embed="rId2">
            <a:extLst>
              <a:ext uri="{28A0092B-C50C-407E-A947-70E740481C1C}">
                <a14:useLocalDpi xmlns:a14="http://schemas.microsoft.com/office/drawing/2010/main" val="0"/>
              </a:ext>
            </a:extLst>
          </a:blip>
          <a:srcRect l="12534" r="16452" b="2739"/>
          <a:stretch/>
        </p:blipFill>
        <p:spPr>
          <a:xfrm>
            <a:off x="1360372" y="5195125"/>
            <a:ext cx="879329" cy="1204341"/>
          </a:xfrm>
          <a:prstGeom prst="rect">
            <a:avLst/>
          </a:prstGeom>
          <a:ln>
            <a:noFill/>
          </a:ln>
          <a:effectLst>
            <a:softEdge rad="112500"/>
          </a:effectLst>
        </p:spPr>
      </p:pic>
      <p:pic>
        <p:nvPicPr>
          <p:cNvPr id="11" name="Picture 10">
            <a:extLst>
              <a:ext uri="{FF2B5EF4-FFF2-40B4-BE49-F238E27FC236}">
                <a16:creationId xmlns:a16="http://schemas.microsoft.com/office/drawing/2014/main" id="{F09300F5-23A6-2D3D-7FD5-63369D6A3924}"/>
              </a:ext>
            </a:extLst>
          </p:cNvPr>
          <p:cNvPicPr>
            <a:picLocks noChangeAspect="1"/>
          </p:cNvPicPr>
          <p:nvPr/>
        </p:nvPicPr>
        <p:blipFill>
          <a:blip r:embed="rId3">
            <a:alphaModFix/>
            <a:extLst>
              <a:ext uri="{28A0092B-C50C-407E-A947-70E740481C1C}">
                <a14:useLocalDpi xmlns:a14="http://schemas.microsoft.com/office/drawing/2010/main" val="0"/>
              </a:ext>
            </a:extLst>
          </a:blip>
          <a:stretch>
            <a:fillRect/>
          </a:stretch>
        </p:blipFill>
        <p:spPr>
          <a:xfrm>
            <a:off x="4092061" y="5165825"/>
            <a:ext cx="1162050" cy="116205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5" name="Picture 2">
            <a:extLst>
              <a:ext uri="{FF2B5EF4-FFF2-40B4-BE49-F238E27FC236}">
                <a16:creationId xmlns:a16="http://schemas.microsoft.com/office/drawing/2014/main" id="{65351639-1EF0-AAED-6328-0467EB5FFB67}"/>
              </a:ext>
            </a:extLst>
          </p:cNvPr>
          <p:cNvPicPr>
            <a:picLocks noChangeAspect="1" noChangeArrowheads="1"/>
          </p:cNvPicPr>
          <p:nvPr/>
        </p:nvPicPr>
        <p:blipFill>
          <a:blip r:embed="rId4" cstate="print"/>
          <a:srcRect/>
          <a:stretch>
            <a:fillRect/>
          </a:stretch>
        </p:blipFill>
        <p:spPr bwMode="auto">
          <a:xfrm>
            <a:off x="55432" y="31816"/>
            <a:ext cx="1753002" cy="627596"/>
          </a:xfrm>
          <a:prstGeom prst="rect">
            <a:avLst/>
          </a:prstGeom>
          <a:noFill/>
          <a:ln w="9525">
            <a:noFill/>
            <a:miter lim="800000"/>
            <a:headEnd/>
            <a:tailEnd/>
          </a:ln>
        </p:spPr>
      </p:pic>
    </p:spTree>
    <p:extLst>
      <p:ext uri="{BB962C8B-B14F-4D97-AF65-F5344CB8AC3E}">
        <p14:creationId xmlns:p14="http://schemas.microsoft.com/office/powerpoint/2010/main" val="231426321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C05EE-44B3-3F6D-0836-D95FBC676C00}"/>
              </a:ext>
            </a:extLst>
          </p:cNvPr>
          <p:cNvSpPr>
            <a:spLocks noGrp="1"/>
          </p:cNvSpPr>
          <p:nvPr>
            <p:ph type="title"/>
          </p:nvPr>
        </p:nvSpPr>
        <p:spPr>
          <a:xfrm>
            <a:off x="1148354" y="59782"/>
            <a:ext cx="10178322" cy="1492132"/>
          </a:xfrm>
        </p:spPr>
        <p:txBody>
          <a:bodyPr/>
          <a:lstStyle/>
          <a:p>
            <a:pPr algn="r"/>
            <a:r>
              <a:rPr lang="en-IN" dirty="0"/>
              <a:t>Questionnaire</a:t>
            </a:r>
          </a:p>
        </p:txBody>
      </p:sp>
      <p:pic>
        <p:nvPicPr>
          <p:cNvPr id="1030" name="Picture 6" descr="Forms response chart. Question title: 1. Gender. Number of responses: 45 responses.">
            <a:extLst>
              <a:ext uri="{FF2B5EF4-FFF2-40B4-BE49-F238E27FC236}">
                <a16:creationId xmlns:a16="http://schemas.microsoft.com/office/drawing/2014/main" id="{8DFDFE7F-1001-D68C-117C-82F2135A305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27664"/>
          <a:stretch/>
        </p:blipFill>
        <p:spPr bwMode="auto">
          <a:xfrm>
            <a:off x="1148354" y="805848"/>
            <a:ext cx="5268684" cy="322559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Forms response chart. Question title: 2. Age . Number of responses: 45 responses.">
            <a:extLst>
              <a:ext uri="{FF2B5EF4-FFF2-40B4-BE49-F238E27FC236}">
                <a16:creationId xmlns:a16="http://schemas.microsoft.com/office/drawing/2014/main" id="{B52C0F0A-65A2-50E6-F4DE-E90BEC74F50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7808"/>
          <a:stretch/>
        </p:blipFill>
        <p:spPr bwMode="auto">
          <a:xfrm>
            <a:off x="6313715" y="805848"/>
            <a:ext cx="5535022" cy="3225597"/>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Forms response chart. Question title: 3. Have you ever visited Burger singh?. Number of responses: 45 responses.">
            <a:extLst>
              <a:ext uri="{FF2B5EF4-FFF2-40B4-BE49-F238E27FC236}">
                <a16:creationId xmlns:a16="http://schemas.microsoft.com/office/drawing/2014/main" id="{BCBDC2FA-3439-7689-7A82-5029675DB60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29732"/>
          <a:stretch/>
        </p:blipFill>
        <p:spPr bwMode="auto">
          <a:xfrm>
            <a:off x="1148355" y="3708339"/>
            <a:ext cx="5165360" cy="3092571"/>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Forms response chart. Question title: 4. How do you heard about BURGER SINGH?. Number of responses: 45 responses.">
            <a:extLst>
              <a:ext uri="{FF2B5EF4-FFF2-40B4-BE49-F238E27FC236}">
                <a16:creationId xmlns:a16="http://schemas.microsoft.com/office/drawing/2014/main" id="{CEA990A4-0832-AD0E-9809-FBA8DB686E83}"/>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22551"/>
          <a:stretch/>
        </p:blipFill>
        <p:spPr bwMode="auto">
          <a:xfrm>
            <a:off x="6155508" y="3765428"/>
            <a:ext cx="5693229" cy="3092572"/>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a:extLst>
              <a:ext uri="{FF2B5EF4-FFF2-40B4-BE49-F238E27FC236}">
                <a16:creationId xmlns:a16="http://schemas.microsoft.com/office/drawing/2014/main" id="{3741C592-53CB-E499-3650-B556E5741D61}"/>
              </a:ext>
            </a:extLst>
          </p:cNvPr>
          <p:cNvPicPr>
            <a:picLocks noChangeAspect="1" noChangeArrowheads="1"/>
          </p:cNvPicPr>
          <p:nvPr/>
        </p:nvPicPr>
        <p:blipFill>
          <a:blip r:embed="rId6" cstate="print"/>
          <a:srcRect/>
          <a:stretch>
            <a:fillRect/>
          </a:stretch>
        </p:blipFill>
        <p:spPr bwMode="auto">
          <a:xfrm>
            <a:off x="55432" y="31816"/>
            <a:ext cx="1753002" cy="627596"/>
          </a:xfrm>
          <a:prstGeom prst="rect">
            <a:avLst/>
          </a:prstGeom>
          <a:noFill/>
          <a:ln w="9525">
            <a:noFill/>
            <a:miter lim="800000"/>
            <a:headEnd/>
            <a:tailEnd/>
          </a:ln>
        </p:spPr>
      </p:pic>
    </p:spTree>
    <p:extLst>
      <p:ext uri="{BB962C8B-B14F-4D97-AF65-F5344CB8AC3E}">
        <p14:creationId xmlns:p14="http://schemas.microsoft.com/office/powerpoint/2010/main" val="22545243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59556-0D64-A406-76B2-E27F5C693CB9}"/>
              </a:ext>
            </a:extLst>
          </p:cNvPr>
          <p:cNvSpPr txBox="1">
            <a:spLocks/>
          </p:cNvSpPr>
          <p:nvPr/>
        </p:nvSpPr>
        <p:spPr>
          <a:xfrm>
            <a:off x="1148354" y="59782"/>
            <a:ext cx="10178322" cy="1492132"/>
          </a:xfrm>
          <a:prstGeom prst="rect">
            <a:avLst/>
          </a:prstGeom>
        </p:spPr>
        <p:txBody>
          <a:bodyPr/>
          <a:lst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a:lstStyle>
          <a:p>
            <a:pPr algn="r"/>
            <a:r>
              <a:rPr lang="en-IN" dirty="0"/>
              <a:t>Questionnaire</a:t>
            </a:r>
          </a:p>
        </p:txBody>
      </p:sp>
      <p:pic>
        <p:nvPicPr>
          <p:cNvPr id="2050" name="Picture 2" descr="Forms response chart. Question title: 5. How do you feel about the unique menu offerings at Burger Singh?&#10;. Number of responses: 45 responses.">
            <a:extLst>
              <a:ext uri="{FF2B5EF4-FFF2-40B4-BE49-F238E27FC236}">
                <a16:creationId xmlns:a16="http://schemas.microsoft.com/office/drawing/2014/main" id="{548BB7E9-65D2-1581-844F-D995FEF8DC5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26502"/>
          <a:stretch/>
        </p:blipFill>
        <p:spPr bwMode="auto">
          <a:xfrm>
            <a:off x="985068" y="918821"/>
            <a:ext cx="5415732" cy="309995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Forms response chart. Question title: 6. What do you think about the pricing of the menu items at Burger Singh?&#10;. Number of responses: 45 responses.">
            <a:extLst>
              <a:ext uri="{FF2B5EF4-FFF2-40B4-BE49-F238E27FC236}">
                <a16:creationId xmlns:a16="http://schemas.microsoft.com/office/drawing/2014/main" id="{3E714BB6-71B4-F531-CEF4-F644048A8B7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411" r="25446"/>
          <a:stretch/>
        </p:blipFill>
        <p:spPr bwMode="auto">
          <a:xfrm>
            <a:off x="6400800" y="918821"/>
            <a:ext cx="5469982" cy="3189836"/>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Forms response chart. Question title: 7. How important is customer service to you when visiting a fast food restaurant like Burger Singh?&#10;. Number of responses: 45 responses.">
            <a:extLst>
              <a:ext uri="{FF2B5EF4-FFF2-40B4-BE49-F238E27FC236}">
                <a16:creationId xmlns:a16="http://schemas.microsoft.com/office/drawing/2014/main" id="{EE7FC708-90A1-606B-DE86-6D8FF5EC8EE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8599"/>
          <a:stretch/>
        </p:blipFill>
        <p:spPr bwMode="auto">
          <a:xfrm>
            <a:off x="985068" y="3764407"/>
            <a:ext cx="10831464" cy="3034717"/>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7DA39F3A-1B1F-C8C7-089B-BD27B6AD44C6}"/>
              </a:ext>
            </a:extLst>
          </p:cNvPr>
          <p:cNvPicPr>
            <a:picLocks noChangeAspect="1" noChangeArrowheads="1"/>
          </p:cNvPicPr>
          <p:nvPr/>
        </p:nvPicPr>
        <p:blipFill>
          <a:blip r:embed="rId5" cstate="print"/>
          <a:srcRect/>
          <a:stretch>
            <a:fillRect/>
          </a:stretch>
        </p:blipFill>
        <p:spPr bwMode="auto">
          <a:xfrm>
            <a:off x="108567" y="58876"/>
            <a:ext cx="1753002" cy="627596"/>
          </a:xfrm>
          <a:prstGeom prst="rect">
            <a:avLst/>
          </a:prstGeom>
          <a:noFill/>
          <a:ln w="9525">
            <a:noFill/>
            <a:miter lim="800000"/>
            <a:headEnd/>
            <a:tailEnd/>
          </a:ln>
        </p:spPr>
      </p:pic>
    </p:spTree>
    <p:extLst>
      <p:ext uri="{BB962C8B-B14F-4D97-AF65-F5344CB8AC3E}">
        <p14:creationId xmlns:p14="http://schemas.microsoft.com/office/powerpoint/2010/main" val="68976664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ACC15-0687-1344-8E1A-1E434F35E652}"/>
              </a:ext>
            </a:extLst>
          </p:cNvPr>
          <p:cNvSpPr>
            <a:spLocks noGrp="1"/>
          </p:cNvSpPr>
          <p:nvPr>
            <p:ph type="title"/>
          </p:nvPr>
        </p:nvSpPr>
        <p:spPr/>
        <p:txBody>
          <a:bodyPr/>
          <a:lstStyle/>
          <a:p>
            <a:pPr algn="r"/>
            <a:r>
              <a:rPr lang="en-IN" dirty="0"/>
              <a:t>Questionnaire</a:t>
            </a:r>
            <a:br>
              <a:rPr lang="en-IN" dirty="0"/>
            </a:br>
            <a:endParaRPr lang="en-IN" dirty="0"/>
          </a:p>
        </p:txBody>
      </p:sp>
      <p:pic>
        <p:nvPicPr>
          <p:cNvPr id="5" name="Picture 2">
            <a:extLst>
              <a:ext uri="{FF2B5EF4-FFF2-40B4-BE49-F238E27FC236}">
                <a16:creationId xmlns:a16="http://schemas.microsoft.com/office/drawing/2014/main" id="{D60728B6-FB49-3A3C-EEF2-4B6D4BF6B3E9}"/>
              </a:ext>
            </a:extLst>
          </p:cNvPr>
          <p:cNvPicPr>
            <a:picLocks noChangeAspect="1" noChangeArrowheads="1"/>
          </p:cNvPicPr>
          <p:nvPr/>
        </p:nvPicPr>
        <p:blipFill>
          <a:blip r:embed="rId2" cstate="print"/>
          <a:srcRect/>
          <a:stretch>
            <a:fillRect/>
          </a:stretch>
        </p:blipFill>
        <p:spPr bwMode="auto">
          <a:xfrm>
            <a:off x="108567" y="-17324"/>
            <a:ext cx="1753002" cy="627596"/>
          </a:xfrm>
          <a:prstGeom prst="rect">
            <a:avLst/>
          </a:prstGeom>
          <a:noFill/>
          <a:ln w="9525">
            <a:noFill/>
            <a:miter lim="800000"/>
            <a:headEnd/>
            <a:tailEnd/>
          </a:ln>
        </p:spPr>
      </p:pic>
      <p:pic>
        <p:nvPicPr>
          <p:cNvPr id="3074" name="Picture 2" descr="Forms response chart. Question title: 8. Who do to you think is the biggest competitor of Burger singh?. Number of responses: 45 responses.">
            <a:extLst>
              <a:ext uri="{FF2B5EF4-FFF2-40B4-BE49-F238E27FC236}">
                <a16:creationId xmlns:a16="http://schemas.microsoft.com/office/drawing/2014/main" id="{1AB20B74-B667-B28A-C015-8B79D4464DD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44" t="5234" r="6475" b="8203"/>
          <a:stretch/>
        </p:blipFill>
        <p:spPr bwMode="auto">
          <a:xfrm>
            <a:off x="985068" y="1128451"/>
            <a:ext cx="10629989" cy="330203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Forms response chart. Question title: 9. Do you think Burger Singh should expand its operations beyond India?&#10;. Number of responses: 45 responses.">
            <a:extLst>
              <a:ext uri="{FF2B5EF4-FFF2-40B4-BE49-F238E27FC236}">
                <a16:creationId xmlns:a16="http://schemas.microsoft.com/office/drawing/2014/main" id="{274001FF-38D3-3FCF-0737-9F3B52CBD74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26340" b="8176"/>
          <a:stretch/>
        </p:blipFill>
        <p:spPr bwMode="auto">
          <a:xfrm>
            <a:off x="985068" y="4281749"/>
            <a:ext cx="5274218" cy="2499267"/>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Forms response chart. Question title: 10. How likely are you to recommend Burger Singh to your friends or family?&#10;. Number of responses: 45 responses.">
            <a:extLst>
              <a:ext uri="{FF2B5EF4-FFF2-40B4-BE49-F238E27FC236}">
                <a16:creationId xmlns:a16="http://schemas.microsoft.com/office/drawing/2014/main" id="{3A466BDA-4952-E53F-1888-E7804531FC2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7083" r="22143" b="11613"/>
          <a:stretch/>
        </p:blipFill>
        <p:spPr bwMode="auto">
          <a:xfrm>
            <a:off x="6259286" y="4389108"/>
            <a:ext cx="5431971" cy="23919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718312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F310A-802C-A03C-2791-5C2A0B1113CF}"/>
              </a:ext>
            </a:extLst>
          </p:cNvPr>
          <p:cNvSpPr>
            <a:spLocks noGrp="1"/>
          </p:cNvSpPr>
          <p:nvPr>
            <p:ph type="title"/>
          </p:nvPr>
        </p:nvSpPr>
        <p:spPr>
          <a:xfrm>
            <a:off x="2959900" y="228601"/>
            <a:ext cx="8187071" cy="708029"/>
          </a:xfrm>
        </p:spPr>
        <p:txBody>
          <a:bodyPr>
            <a:normAutofit/>
          </a:bodyPr>
          <a:lstStyle/>
          <a:p>
            <a:pPr algn="ctr"/>
            <a:r>
              <a:rPr lang="en-IN" sz="4000" dirty="0"/>
              <a:t>Conclusion </a:t>
            </a:r>
          </a:p>
        </p:txBody>
      </p:sp>
      <p:sp>
        <p:nvSpPr>
          <p:cNvPr id="3" name="Text Placeholder 2">
            <a:extLst>
              <a:ext uri="{FF2B5EF4-FFF2-40B4-BE49-F238E27FC236}">
                <a16:creationId xmlns:a16="http://schemas.microsoft.com/office/drawing/2014/main" id="{4E0204A8-9648-43AF-1FFE-7A8CEF813350}"/>
              </a:ext>
            </a:extLst>
          </p:cNvPr>
          <p:cNvSpPr>
            <a:spLocks noGrp="1"/>
          </p:cNvSpPr>
          <p:nvPr>
            <p:ph type="body" idx="1"/>
          </p:nvPr>
        </p:nvSpPr>
        <p:spPr>
          <a:xfrm>
            <a:off x="3242930" y="1328057"/>
            <a:ext cx="8328584" cy="4782859"/>
          </a:xfrm>
        </p:spPr>
        <p:txBody>
          <a:bodyPr>
            <a:normAutofit/>
          </a:bodyPr>
          <a:lstStyle/>
          <a:p>
            <a:r>
              <a:rPr lang="en-US" dirty="0">
                <a:latin typeface="Calibri" panose="020F0502020204030204" pitchFamily="34" charset="0"/>
                <a:ea typeface="Calibri" panose="020F0502020204030204" pitchFamily="34" charset="0"/>
                <a:cs typeface="Calibri" panose="020F0502020204030204" pitchFamily="34" charset="0"/>
              </a:rPr>
              <a:t>Through our survey on BURGER SINGH, the researchers have found out that most of the consumers are adults who are aged between 19 - 24, Burger Singh has gained its reach by spreading its awareness to people through family and friends. Tho they try to provide unique items in their menu but some people find it average/regular. The main thing which attracts people is their price, it's very affordable for most of the people. Their biggest competition is Burger King.</a:t>
            </a:r>
            <a:endParaRPr lang="en-IN" dirty="0">
              <a:latin typeface="Calibri" panose="020F0502020204030204" pitchFamily="34" charset="0"/>
              <a:ea typeface="Calibri" panose="020F0502020204030204" pitchFamily="34" charset="0"/>
              <a:cs typeface="Calibri" panose="020F0502020204030204" pitchFamily="34" charset="0"/>
            </a:endParaRPr>
          </a:p>
        </p:txBody>
      </p:sp>
      <p:pic>
        <p:nvPicPr>
          <p:cNvPr id="4" name="Picture 2">
            <a:extLst>
              <a:ext uri="{FF2B5EF4-FFF2-40B4-BE49-F238E27FC236}">
                <a16:creationId xmlns:a16="http://schemas.microsoft.com/office/drawing/2014/main" id="{D000A960-7089-BCCD-202C-1124822E1361}"/>
              </a:ext>
            </a:extLst>
          </p:cNvPr>
          <p:cNvPicPr>
            <a:picLocks noChangeAspect="1" noChangeArrowheads="1"/>
          </p:cNvPicPr>
          <p:nvPr/>
        </p:nvPicPr>
        <p:blipFill>
          <a:blip r:embed="rId2" cstate="print"/>
          <a:srcRect/>
          <a:stretch>
            <a:fillRect/>
          </a:stretch>
        </p:blipFill>
        <p:spPr bwMode="auto">
          <a:xfrm>
            <a:off x="168528" y="21772"/>
            <a:ext cx="1753002" cy="627596"/>
          </a:xfrm>
          <a:prstGeom prst="rect">
            <a:avLst/>
          </a:prstGeom>
          <a:noFill/>
          <a:ln w="9525">
            <a:noFill/>
            <a:miter lim="800000"/>
            <a:headEnd/>
            <a:tailEnd/>
          </a:ln>
        </p:spPr>
      </p:pic>
    </p:spTree>
    <p:extLst>
      <p:ext uri="{BB962C8B-B14F-4D97-AF65-F5344CB8AC3E}">
        <p14:creationId xmlns:p14="http://schemas.microsoft.com/office/powerpoint/2010/main" val="207086029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ECA3D-2ED1-377B-31E3-E178BEDD37D4}"/>
              </a:ext>
            </a:extLst>
          </p:cNvPr>
          <p:cNvSpPr>
            <a:spLocks noGrp="1"/>
          </p:cNvSpPr>
          <p:nvPr>
            <p:ph type="ctrTitle"/>
          </p:nvPr>
        </p:nvSpPr>
        <p:spPr/>
        <p:txBody>
          <a:bodyPr/>
          <a:lstStyle/>
          <a:p>
            <a:r>
              <a:rPr lang="en-IN" dirty="0"/>
              <a:t>Thank you </a:t>
            </a:r>
          </a:p>
        </p:txBody>
      </p:sp>
      <p:pic>
        <p:nvPicPr>
          <p:cNvPr id="4" name="Picture 2">
            <a:extLst>
              <a:ext uri="{FF2B5EF4-FFF2-40B4-BE49-F238E27FC236}">
                <a16:creationId xmlns:a16="http://schemas.microsoft.com/office/drawing/2014/main" id="{ADDEBF69-68FF-501D-4698-17F002CA273C}"/>
              </a:ext>
            </a:extLst>
          </p:cNvPr>
          <p:cNvPicPr>
            <a:picLocks noChangeAspect="1" noChangeArrowheads="1"/>
          </p:cNvPicPr>
          <p:nvPr/>
        </p:nvPicPr>
        <p:blipFill>
          <a:blip r:embed="rId2" cstate="print"/>
          <a:srcRect/>
          <a:stretch>
            <a:fillRect/>
          </a:stretch>
        </p:blipFill>
        <p:spPr bwMode="auto">
          <a:xfrm>
            <a:off x="114099" y="0"/>
            <a:ext cx="1753002" cy="627596"/>
          </a:xfrm>
          <a:prstGeom prst="rect">
            <a:avLst/>
          </a:prstGeom>
          <a:noFill/>
          <a:ln w="9525">
            <a:noFill/>
            <a:miter lim="800000"/>
            <a:headEnd/>
            <a:tailEnd/>
          </a:ln>
        </p:spPr>
      </p:pic>
    </p:spTree>
    <p:extLst>
      <p:ext uri="{BB962C8B-B14F-4D97-AF65-F5344CB8AC3E}">
        <p14:creationId xmlns:p14="http://schemas.microsoft.com/office/powerpoint/2010/main" val="104675262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theme/theme1.xml><?xml version="1.0" encoding="utf-8"?>
<a:theme xmlns:a="http://schemas.openxmlformats.org/drawingml/2006/main" name="Badge">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55916208_win32_fixed.potx" id="{84AF7F3C-60DD-4AB5-B3E9-3CB062C9A041}" vid="{36281799-A49C-4605-BD89-C62E2E9FEDD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Getting to know your teacher</Template>
  <TotalTime>540</TotalTime>
  <Words>683</Words>
  <Application>Microsoft Office PowerPoint</Application>
  <PresentationFormat>Widescreen</PresentationFormat>
  <Paragraphs>69</Paragraphs>
  <Slides>12</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12</vt:i4>
      </vt:variant>
    </vt:vector>
  </HeadingPairs>
  <TitlesOfParts>
    <vt:vector size="22" baseType="lpstr">
      <vt:lpstr>Arial</vt:lpstr>
      <vt:lpstr>Book Antiqua</vt:lpstr>
      <vt:lpstr>Bookman Old Style</vt:lpstr>
      <vt:lpstr>Calibri</vt:lpstr>
      <vt:lpstr>Century</vt:lpstr>
      <vt:lpstr>Freestyle Script</vt:lpstr>
      <vt:lpstr>Gill Sans MT</vt:lpstr>
      <vt:lpstr>Impact</vt:lpstr>
      <vt:lpstr>Times New Roman</vt:lpstr>
      <vt:lpstr>Badge</vt:lpstr>
      <vt:lpstr>a study on food brand (burger Singh)</vt:lpstr>
      <vt:lpstr>PowerPoint Presentation</vt:lpstr>
      <vt:lpstr>About burger Singh</vt:lpstr>
      <vt:lpstr>      Literature REVIEW </vt:lpstr>
      <vt:lpstr>PowerPoint Presentation</vt:lpstr>
      <vt:lpstr>    Objective</vt:lpstr>
      <vt:lpstr>PowerPoint Presentation</vt:lpstr>
      <vt:lpstr>Questionnaire</vt:lpstr>
      <vt:lpstr>PowerPoint Presentation</vt:lpstr>
      <vt:lpstr>Questionnaire </vt:lpstr>
      <vt:lpstr>Conclusion </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study on food brand{food chain (burger Singh)}</dc:title>
  <dc:creator>Deep Narayan</dc:creator>
  <cp:lastModifiedBy>Aradhna Barve</cp:lastModifiedBy>
  <cp:revision>5</cp:revision>
  <dcterms:created xsi:type="dcterms:W3CDTF">2023-04-08T12:52:16Z</dcterms:created>
  <dcterms:modified xsi:type="dcterms:W3CDTF">2023-06-29T20:03:34Z</dcterms:modified>
</cp:coreProperties>
</file>